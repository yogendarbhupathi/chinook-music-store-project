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9500"/>
    <a:srgbClr val="3A8F2F"/>
    <a:srgbClr val="7030A0"/>
    <a:srgbClr val="A6B7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60"/>
  </p:normalViewPr>
  <p:slideViewPr>
    <p:cSldViewPr snapToGrid="0">
      <p:cViewPr>
        <p:scale>
          <a:sx n="75" d="100"/>
          <a:sy n="75" d="100"/>
        </p:scale>
        <p:origin x="-30"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NT%20course\Projects\Chinook%20Music%20Store%20Project\Chinook_excel.xls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a:t>
            </a:r>
            <a:r>
              <a:rPr lang="en-IN" sz="1400" b="1" i="0" u="none" strike="noStrike" baseline="0">
                <a:effectLst/>
              </a:rPr>
              <a:t>Customer Demographic Distribution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6611311254969579E-2"/>
          <c:y val="0.12169965046193849"/>
          <c:w val="0.95072854707453835"/>
          <c:h val="0.67068703903360183"/>
        </c:manualLayout>
      </c:layout>
      <c:barChart>
        <c:barDir val="col"/>
        <c:grouping val="stacked"/>
        <c:varyColors val="0"/>
        <c:ser>
          <c:idx val="0"/>
          <c:order val="0"/>
          <c:tx>
            <c:strRef>
              <c:f>PPT_G1!$B$1</c:f>
              <c:strCache>
                <c:ptCount val="1"/>
                <c:pt idx="0">
                  <c:v> total_customers</c:v>
                </c:pt>
              </c:strCache>
            </c:strRef>
          </c:tx>
          <c:spPr>
            <a:solidFill>
              <a:schemeClr val="accent1"/>
            </a:solidFill>
            <a:ln>
              <a:solidFill>
                <a:srgbClr val="7030A0"/>
              </a:solidFill>
            </a:ln>
            <a:effectLst/>
          </c:spPr>
          <c:invertIfNegative val="0"/>
          <c:dLbls>
            <c:dLbl>
              <c:idx val="0"/>
              <c:layout>
                <c:manualLayout>
                  <c:x val="0"/>
                  <c:y val="-0.3360753301156919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1DA-48AC-83C7-39481BA36856}"/>
                </c:ext>
              </c:extLst>
            </c:dLbl>
            <c:dLbl>
              <c:idx val="1"/>
              <c:layout>
                <c:manualLayout>
                  <c:x val="-9.4416166256773962E-18"/>
                  <c:y val="-0.2114481788961066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1DA-48AC-83C7-39481BA36856}"/>
                </c:ext>
              </c:extLst>
            </c:dLbl>
            <c:dLbl>
              <c:idx val="2"/>
              <c:layout>
                <c:manualLayout>
                  <c:x val="1.7426029120288742E-7"/>
                  <c:y val="-0.14884407512445946"/>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2.9279911169073955E-2"/>
                      <c:h val="8.9151195299256913E-2"/>
                    </c:manualLayout>
                  </c15:layout>
                </c:ext>
                <c:ext xmlns:c16="http://schemas.microsoft.com/office/drawing/2014/chart" uri="{C3380CC4-5D6E-409C-BE32-E72D297353CC}">
                  <c16:uniqueId val="{00000002-91DA-48AC-83C7-39481BA36856}"/>
                </c:ext>
              </c:extLst>
            </c:dLbl>
            <c:dLbl>
              <c:idx val="3"/>
              <c:layout>
                <c:manualLayout>
                  <c:x val="-1.8883233251354792E-17"/>
                  <c:y val="-0.1350523196135317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1DA-48AC-83C7-39481BA36856}"/>
                </c:ext>
              </c:extLst>
            </c:dLbl>
            <c:dLbl>
              <c:idx val="4"/>
              <c:layout>
                <c:manualLayout>
                  <c:x val="0"/>
                  <c:y val="-0.1126983155050578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1DA-48AC-83C7-39481BA36856}"/>
                </c:ext>
              </c:extLst>
            </c:dLbl>
            <c:dLbl>
              <c:idx val="5"/>
              <c:layout>
                <c:manualLayout>
                  <c:x val="0"/>
                  <c:y val="-9.290648816947105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1DA-48AC-83C7-39481BA36856}"/>
                </c:ext>
              </c:extLst>
            </c:dLbl>
            <c:dLbl>
              <c:idx val="6"/>
              <c:layout>
                <c:manualLayout>
                  <c:x val="0"/>
                  <c:y val="-6.9219113922670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1DA-48AC-83C7-39481BA36856}"/>
                </c:ext>
              </c:extLst>
            </c:dLbl>
            <c:dLbl>
              <c:idx val="7"/>
              <c:layout>
                <c:manualLayout>
                  <c:x val="-3.7766466502709585E-17"/>
                  <c:y val="-6.52188572283380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1DA-48AC-83C7-39481BA36856}"/>
                </c:ext>
              </c:extLst>
            </c:dLbl>
            <c:dLbl>
              <c:idx val="8"/>
              <c:layout>
                <c:manualLayout>
                  <c:x val="0"/>
                  <c:y val="-6.3271065487812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1DA-48AC-83C7-39481BA36856}"/>
                </c:ext>
              </c:extLst>
            </c:dLbl>
            <c:dLbl>
              <c:idx val="9"/>
              <c:layout>
                <c:manualLayout>
                  <c:x val="5.0832666967344013E-17"/>
                  <c:y val="-5.076068354329192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1DA-48AC-83C7-39481BA36856}"/>
                </c:ext>
              </c:extLst>
            </c:dLbl>
            <c:dLbl>
              <c:idx val="10"/>
              <c:layout>
                <c:manualLayout>
                  <c:x val="-5.0832666967344013E-17"/>
                  <c:y val="-4.614607594844720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1DA-48AC-83C7-39481BA36856}"/>
                </c:ext>
              </c:extLst>
            </c:dLbl>
            <c:dLbl>
              <c:idx val="11"/>
              <c:layout>
                <c:manualLayout>
                  <c:x val="0"/>
                  <c:y val="-5.076068354329192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1DA-48AC-83C7-39481BA36856}"/>
                </c:ext>
              </c:extLst>
            </c:dLbl>
            <c:dLbl>
              <c:idx val="12"/>
              <c:layout>
                <c:manualLayout>
                  <c:x val="0"/>
                  <c:y val="-4.153146835360248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1DA-48AC-83C7-39481BA36856}"/>
                </c:ext>
              </c:extLst>
            </c:dLbl>
            <c:dLbl>
              <c:idx val="13"/>
              <c:layout>
                <c:manualLayout>
                  <c:x val="0"/>
                  <c:y val="-4.614607594844720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91DA-48AC-83C7-39481BA36856}"/>
                </c:ext>
              </c:extLst>
            </c:dLbl>
            <c:dLbl>
              <c:idx val="14"/>
              <c:layout>
                <c:manualLayout>
                  <c:x val="-1.0166533393468803E-16"/>
                  <c:y val="-4.614607594844720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1DA-48AC-83C7-39481BA36856}"/>
                </c:ext>
              </c:extLst>
            </c:dLbl>
            <c:dLbl>
              <c:idx val="15"/>
              <c:layout>
                <c:manualLayout>
                  <c:x val="-1.0166533393468803E-16"/>
                  <c:y val="-4.614607594844720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91DA-48AC-83C7-39481BA36856}"/>
                </c:ext>
              </c:extLst>
            </c:dLbl>
            <c:dLbl>
              <c:idx val="16"/>
              <c:layout>
                <c:manualLayout>
                  <c:x val="2.7727229558536658E-3"/>
                  <c:y val="-4.614607594844720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91DA-48AC-83C7-39481BA36856}"/>
                </c:ext>
              </c:extLst>
            </c:dLbl>
            <c:dLbl>
              <c:idx val="17"/>
              <c:layout>
                <c:manualLayout>
                  <c:x val="0"/>
                  <c:y val="-4.153146835360248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91DA-48AC-83C7-39481BA36856}"/>
                </c:ext>
              </c:extLst>
            </c:dLbl>
            <c:dLbl>
              <c:idx val="18"/>
              <c:layout>
                <c:manualLayout>
                  <c:x val="0"/>
                  <c:y val="-4.614607594844720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91DA-48AC-83C7-39481BA36856}"/>
                </c:ext>
              </c:extLst>
            </c:dLbl>
            <c:dLbl>
              <c:idx val="19"/>
              <c:layout>
                <c:manualLayout>
                  <c:x val="-1.0166533393468803E-16"/>
                  <c:y val="-4.153146835360248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91DA-48AC-83C7-39481BA36856}"/>
                </c:ext>
              </c:extLst>
            </c:dLbl>
            <c:dLbl>
              <c:idx val="20"/>
              <c:layout>
                <c:manualLayout>
                  <c:x val="-1.0166533393468803E-16"/>
                  <c:y val="-4.153146835360248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91DA-48AC-83C7-39481BA36856}"/>
                </c:ext>
              </c:extLst>
            </c:dLbl>
            <c:dLbl>
              <c:idx val="21"/>
              <c:layout>
                <c:manualLayout>
                  <c:x val="0"/>
                  <c:y val="-4.614607594844720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91DA-48AC-83C7-39481BA36856}"/>
                </c:ext>
              </c:extLst>
            </c:dLbl>
            <c:dLbl>
              <c:idx val="22"/>
              <c:layout>
                <c:manualLayout>
                  <c:x val="1.0166533393468803E-16"/>
                  <c:y val="-4.153146835360248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91DA-48AC-83C7-39481BA36856}"/>
                </c:ext>
              </c:extLst>
            </c:dLbl>
            <c:dLbl>
              <c:idx val="23"/>
              <c:layout>
                <c:manualLayout>
                  <c:x val="0"/>
                  <c:y val="-4.347923815222538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91DA-48AC-83C7-39481BA36856}"/>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PPT_G1!$A$2:$A$25</c:f>
              <c:strCache>
                <c:ptCount val="24"/>
                <c:pt idx="0">
                  <c:v>USA</c:v>
                </c:pt>
                <c:pt idx="1">
                  <c:v>Canada</c:v>
                </c:pt>
                <c:pt idx="2">
                  <c:v>Brazil</c:v>
                </c:pt>
                <c:pt idx="3">
                  <c:v>France</c:v>
                </c:pt>
                <c:pt idx="4">
                  <c:v>Germany</c:v>
                </c:pt>
                <c:pt idx="5">
                  <c:v>United Kingdom</c:v>
                </c:pt>
                <c:pt idx="6">
                  <c:v>Czech Republic</c:v>
                </c:pt>
                <c:pt idx="7">
                  <c:v>Portugal</c:v>
                </c:pt>
                <c:pt idx="8">
                  <c:v>India</c:v>
                </c:pt>
                <c:pt idx="9">
                  <c:v>Norway</c:v>
                </c:pt>
                <c:pt idx="10">
                  <c:v>Austria</c:v>
                </c:pt>
                <c:pt idx="11">
                  <c:v>Belgium</c:v>
                </c:pt>
                <c:pt idx="12">
                  <c:v>Denmark</c:v>
                </c:pt>
                <c:pt idx="13">
                  <c:v>Finland</c:v>
                </c:pt>
                <c:pt idx="14">
                  <c:v>Hungary</c:v>
                </c:pt>
                <c:pt idx="15">
                  <c:v>Ireland</c:v>
                </c:pt>
                <c:pt idx="16">
                  <c:v>Italy</c:v>
                </c:pt>
                <c:pt idx="17">
                  <c:v>Netherlands</c:v>
                </c:pt>
                <c:pt idx="18">
                  <c:v>Poland</c:v>
                </c:pt>
                <c:pt idx="19">
                  <c:v>Spain</c:v>
                </c:pt>
                <c:pt idx="20">
                  <c:v>Sweden</c:v>
                </c:pt>
                <c:pt idx="21">
                  <c:v>Australia</c:v>
                </c:pt>
                <c:pt idx="22">
                  <c:v>Argentina</c:v>
                </c:pt>
                <c:pt idx="23">
                  <c:v>Chile</c:v>
                </c:pt>
              </c:strCache>
            </c:strRef>
          </c:cat>
          <c:val>
            <c:numRef>
              <c:f>PPT_G1!$B$2:$B$25</c:f>
              <c:numCache>
                <c:formatCode>General</c:formatCode>
                <c:ptCount val="24"/>
                <c:pt idx="0">
                  <c:v>13</c:v>
                </c:pt>
                <c:pt idx="1">
                  <c:v>8</c:v>
                </c:pt>
                <c:pt idx="2">
                  <c:v>5</c:v>
                </c:pt>
                <c:pt idx="3">
                  <c:v>5</c:v>
                </c:pt>
                <c:pt idx="4">
                  <c:v>4</c:v>
                </c:pt>
                <c:pt idx="5">
                  <c:v>3</c:v>
                </c:pt>
                <c:pt idx="6">
                  <c:v>2</c:v>
                </c:pt>
                <c:pt idx="7">
                  <c:v>2</c:v>
                </c:pt>
                <c:pt idx="8">
                  <c:v>2</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numCache>
            </c:numRef>
          </c:val>
          <c:extLst>
            <c:ext xmlns:c16="http://schemas.microsoft.com/office/drawing/2014/chart" uri="{C3380CC4-5D6E-409C-BE32-E72D297353CC}">
              <c16:uniqueId val="{00000018-91DA-48AC-83C7-39481BA36856}"/>
            </c:ext>
          </c:extLst>
        </c:ser>
        <c:dLbls>
          <c:dLblPos val="ctr"/>
          <c:showLegendKey val="0"/>
          <c:showVal val="1"/>
          <c:showCatName val="0"/>
          <c:showSerName val="0"/>
          <c:showPercent val="0"/>
          <c:showBubbleSize val="0"/>
        </c:dLbls>
        <c:gapWidth val="50"/>
        <c:overlap val="100"/>
        <c:axId val="1872644992"/>
        <c:axId val="1872662272"/>
      </c:barChart>
      <c:catAx>
        <c:axId val="1872644992"/>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2662272"/>
        <c:crosses val="autoZero"/>
        <c:auto val="1"/>
        <c:lblAlgn val="ctr"/>
        <c:lblOffset val="100"/>
        <c:noMultiLvlLbl val="0"/>
      </c:catAx>
      <c:valAx>
        <c:axId val="1872662272"/>
        <c:scaling>
          <c:orientation val="minMax"/>
        </c:scaling>
        <c:delete val="1"/>
        <c:axPos val="l"/>
        <c:numFmt formatCode="General" sourceLinked="1"/>
        <c:majorTickMark val="none"/>
        <c:minorTickMark val="none"/>
        <c:tickLblPos val="nextTo"/>
        <c:crossAx val="18726449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7030A0"/>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chemeClr val="tx1"/>
                </a:solidFill>
                <a:latin typeface="Times New Roman" panose="02020603050405020304" pitchFamily="18" charset="0"/>
                <a:cs typeface="Times New Roman" panose="02020603050405020304" pitchFamily="18" charset="0"/>
              </a:rPr>
              <a:t>Top</a:t>
            </a:r>
            <a:r>
              <a:rPr lang="en-US" b="1" baseline="0" dirty="0">
                <a:solidFill>
                  <a:schemeClr val="tx1"/>
                </a:solidFill>
                <a:latin typeface="Times New Roman" panose="02020603050405020304" pitchFamily="18" charset="0"/>
                <a:cs typeface="Times New Roman" panose="02020603050405020304" pitchFamily="18" charset="0"/>
              </a:rPr>
              <a:t> 10 Countries in terms of Revenue</a:t>
            </a:r>
            <a:endParaRPr lang="en-US" b="1" dirty="0">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PPT_G2!$B$1</c:f>
              <c:strCache>
                <c:ptCount val="1"/>
                <c:pt idx="0">
                  <c:v> revenue</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PPT_G2!$A$2:$A$11</c:f>
              <c:strCache>
                <c:ptCount val="10"/>
                <c:pt idx="0">
                  <c:v>USA</c:v>
                </c:pt>
                <c:pt idx="1">
                  <c:v>Canada</c:v>
                </c:pt>
                <c:pt idx="2">
                  <c:v>Brazil</c:v>
                </c:pt>
                <c:pt idx="3">
                  <c:v>France</c:v>
                </c:pt>
                <c:pt idx="4">
                  <c:v>Germany</c:v>
                </c:pt>
                <c:pt idx="5">
                  <c:v>Czech Republic</c:v>
                </c:pt>
                <c:pt idx="6">
                  <c:v>United Kingdom</c:v>
                </c:pt>
                <c:pt idx="7">
                  <c:v>Portugal</c:v>
                </c:pt>
                <c:pt idx="8">
                  <c:v>India</c:v>
                </c:pt>
                <c:pt idx="9">
                  <c:v>Ireland</c:v>
                </c:pt>
              </c:strCache>
            </c:strRef>
          </c:cat>
          <c:val>
            <c:numRef>
              <c:f>PPT_G2!$B$2:$B$11</c:f>
              <c:numCache>
                <c:formatCode>0.0</c:formatCode>
                <c:ptCount val="10"/>
                <c:pt idx="0">
                  <c:v>1040.49</c:v>
                </c:pt>
                <c:pt idx="1">
                  <c:v>535.59</c:v>
                </c:pt>
                <c:pt idx="2">
                  <c:v>427.68</c:v>
                </c:pt>
                <c:pt idx="3">
                  <c:v>389.07</c:v>
                </c:pt>
                <c:pt idx="4">
                  <c:v>334.62</c:v>
                </c:pt>
                <c:pt idx="5">
                  <c:v>273.24</c:v>
                </c:pt>
                <c:pt idx="6">
                  <c:v>245.52</c:v>
                </c:pt>
                <c:pt idx="7">
                  <c:v>185.13</c:v>
                </c:pt>
                <c:pt idx="8">
                  <c:v>183.15</c:v>
                </c:pt>
                <c:pt idx="9">
                  <c:v>114.84</c:v>
                </c:pt>
              </c:numCache>
            </c:numRef>
          </c:val>
          <c:extLst>
            <c:ext xmlns:c16="http://schemas.microsoft.com/office/drawing/2014/chart" uri="{C3380CC4-5D6E-409C-BE32-E72D297353CC}">
              <c16:uniqueId val="{00000000-5112-45BE-822A-4EBC8AB6A751}"/>
            </c:ext>
          </c:extLst>
        </c:ser>
        <c:dLbls>
          <c:showLegendKey val="0"/>
          <c:showVal val="1"/>
          <c:showCatName val="0"/>
          <c:showSerName val="0"/>
          <c:showPercent val="0"/>
          <c:showBubbleSize val="0"/>
        </c:dLbls>
        <c:gapWidth val="150"/>
        <c:shape val="box"/>
        <c:axId val="1429633424"/>
        <c:axId val="1429634384"/>
        <c:axId val="0"/>
      </c:bar3DChart>
      <c:catAx>
        <c:axId val="142963342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9634384"/>
        <c:crosses val="autoZero"/>
        <c:auto val="1"/>
        <c:lblAlgn val="ctr"/>
        <c:lblOffset val="100"/>
        <c:noMultiLvlLbl val="0"/>
      </c:catAx>
      <c:valAx>
        <c:axId val="1429634384"/>
        <c:scaling>
          <c:orientation val="minMax"/>
        </c:scaling>
        <c:delete val="1"/>
        <c:axPos val="l"/>
        <c:numFmt formatCode="0.0" sourceLinked="1"/>
        <c:majorTickMark val="none"/>
        <c:minorTickMark val="none"/>
        <c:tickLblPos val="nextTo"/>
        <c:crossAx val="14296334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7030A0"/>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sz="1600" dirty="0">
                <a:latin typeface="Times New Roman" panose="02020603050405020304" pitchFamily="18" charset="0"/>
                <a:cs typeface="Times New Roman" panose="02020603050405020304" pitchFamily="18" charset="0"/>
              </a:rPr>
              <a:t>Top 5 Genres in USA in terms of Revenue</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PPT_G3!$B$1</c:f>
              <c:strCache>
                <c:ptCount val="1"/>
                <c:pt idx="0">
                  <c:v> total_sales</c:v>
                </c:pt>
              </c:strCache>
            </c:strRef>
          </c:tx>
          <c:spPr>
            <a:solidFill>
              <a:schemeClr val="accent1"/>
            </a:solidFill>
            <a:ln>
              <a:noFill/>
            </a:ln>
            <a:effectLst/>
          </c:spPr>
          <c:invertIfNegative val="0"/>
          <c:dLbls>
            <c:dLbl>
              <c:idx val="0"/>
              <c:layout>
                <c:manualLayout>
                  <c:x val="0"/>
                  <c:y val="-0.36163522012578619"/>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783-454C-BD6F-7ADE782EA65E}"/>
                </c:ext>
              </c:extLst>
            </c:dLbl>
            <c:dLbl>
              <c:idx val="1"/>
              <c:layout>
                <c:manualLayout>
                  <c:x val="-2.2883295194508009E-3"/>
                  <c:y val="-0.106918238993710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783-454C-BD6F-7ADE782EA65E}"/>
                </c:ext>
              </c:extLst>
            </c:dLbl>
            <c:dLbl>
              <c:idx val="2"/>
              <c:layout>
                <c:manualLayout>
                  <c:x val="0"/>
                  <c:y val="-0.1006289308176100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783-454C-BD6F-7ADE782EA65E}"/>
                </c:ext>
              </c:extLst>
            </c:dLbl>
            <c:dLbl>
              <c:idx val="3"/>
              <c:layout>
                <c:manualLayout>
                  <c:x val="0"/>
                  <c:y val="-5.66037735849056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783-454C-BD6F-7ADE782EA65E}"/>
                </c:ext>
              </c:extLst>
            </c:dLbl>
            <c:dLbl>
              <c:idx val="4"/>
              <c:layout>
                <c:manualLayout>
                  <c:x val="0"/>
                  <c:y val="-4.4025157232704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783-454C-BD6F-7ADE782EA65E}"/>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7030A0"/>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PPT_G3!$A$2:$A$6</c:f>
              <c:strCache>
                <c:ptCount val="5"/>
                <c:pt idx="0">
                  <c:v>Rock</c:v>
                </c:pt>
                <c:pt idx="1">
                  <c:v>Alternative &amp; Punk</c:v>
                </c:pt>
                <c:pt idx="2">
                  <c:v>Metal</c:v>
                </c:pt>
                <c:pt idx="3">
                  <c:v>R&amp;B/Soul</c:v>
                </c:pt>
                <c:pt idx="4">
                  <c:v>Blues</c:v>
                </c:pt>
              </c:strCache>
            </c:strRef>
          </c:cat>
          <c:val>
            <c:numRef>
              <c:f>PPT_G3!$B$2:$B$6</c:f>
              <c:numCache>
                <c:formatCode>General</c:formatCode>
                <c:ptCount val="5"/>
                <c:pt idx="0">
                  <c:v>555.39</c:v>
                </c:pt>
                <c:pt idx="1">
                  <c:v>128.69999999999999</c:v>
                </c:pt>
                <c:pt idx="2">
                  <c:v>122.76</c:v>
                </c:pt>
                <c:pt idx="3">
                  <c:v>52.47</c:v>
                </c:pt>
                <c:pt idx="4">
                  <c:v>35.64</c:v>
                </c:pt>
              </c:numCache>
            </c:numRef>
          </c:val>
          <c:extLst>
            <c:ext xmlns:c16="http://schemas.microsoft.com/office/drawing/2014/chart" uri="{C3380CC4-5D6E-409C-BE32-E72D297353CC}">
              <c16:uniqueId val="{00000000-E783-454C-BD6F-7ADE782EA65E}"/>
            </c:ext>
          </c:extLst>
        </c:ser>
        <c:dLbls>
          <c:dLblPos val="ctr"/>
          <c:showLegendKey val="0"/>
          <c:showVal val="1"/>
          <c:showCatName val="0"/>
          <c:showSerName val="0"/>
          <c:showPercent val="0"/>
          <c:showBubbleSize val="0"/>
        </c:dLbls>
        <c:gapWidth val="79"/>
        <c:overlap val="100"/>
        <c:axId val="1872636352"/>
        <c:axId val="1872637792"/>
      </c:barChart>
      <c:catAx>
        <c:axId val="1872636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1872637792"/>
        <c:crosses val="autoZero"/>
        <c:auto val="1"/>
        <c:lblAlgn val="ctr"/>
        <c:lblOffset val="100"/>
        <c:noMultiLvlLbl val="0"/>
      </c:catAx>
      <c:valAx>
        <c:axId val="1872637792"/>
        <c:scaling>
          <c:orientation val="minMax"/>
        </c:scaling>
        <c:delete val="1"/>
        <c:axPos val="l"/>
        <c:numFmt formatCode="General" sourceLinked="1"/>
        <c:majorTickMark val="none"/>
        <c:minorTickMark val="none"/>
        <c:tickLblPos val="nextTo"/>
        <c:crossAx val="18726363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7030A0"/>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a:solidFill>
                  <a:schemeClr val="tx1"/>
                </a:solidFill>
                <a:latin typeface="Times New Roman" panose="02020603050405020304" pitchFamily="18" charset="0"/>
                <a:cs typeface="Times New Roman" panose="02020603050405020304" pitchFamily="18" charset="0"/>
              </a:rPr>
              <a:t>Top</a:t>
            </a:r>
            <a:r>
              <a:rPr lang="en-IN" baseline="0">
                <a:solidFill>
                  <a:schemeClr val="tx1"/>
                </a:solidFill>
                <a:latin typeface="Times New Roman" panose="02020603050405020304" pitchFamily="18" charset="0"/>
                <a:cs typeface="Times New Roman" panose="02020603050405020304" pitchFamily="18" charset="0"/>
              </a:rPr>
              <a:t> 5 Artists in USA in terms of Revenue</a:t>
            </a:r>
            <a:endParaRPr lang="en-IN">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PPT_G4!$B$1</c:f>
              <c:strCache>
                <c:ptCount val="1"/>
                <c:pt idx="0">
                  <c:v> total_revenue</c:v>
                </c:pt>
              </c:strCache>
            </c:strRef>
          </c:tx>
          <c:spPr>
            <a:solidFill>
              <a:schemeClr val="accent1"/>
            </a:soli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PPT_G4!$A$2:$A$6</c:f>
              <c:strCache>
                <c:ptCount val="5"/>
                <c:pt idx="0">
                  <c:v>Van Halen</c:v>
                </c:pt>
                <c:pt idx="1">
                  <c:v>Eric Clapton</c:v>
                </c:pt>
                <c:pt idx="2">
                  <c:v>Nirvana</c:v>
                </c:pt>
                <c:pt idx="3">
                  <c:v>The Rolling Stones</c:v>
                </c:pt>
                <c:pt idx="4">
                  <c:v>Marvin Gaye</c:v>
                </c:pt>
              </c:strCache>
            </c:strRef>
          </c:cat>
          <c:val>
            <c:numRef>
              <c:f>PPT_G4!$B$2:$B$6</c:f>
              <c:numCache>
                <c:formatCode>General</c:formatCode>
                <c:ptCount val="5"/>
                <c:pt idx="0">
                  <c:v>525.69000000000005</c:v>
                </c:pt>
                <c:pt idx="1">
                  <c:v>434.61</c:v>
                </c:pt>
                <c:pt idx="2">
                  <c:v>424.71</c:v>
                </c:pt>
                <c:pt idx="3">
                  <c:v>398.97</c:v>
                </c:pt>
                <c:pt idx="4">
                  <c:v>387.09</c:v>
                </c:pt>
              </c:numCache>
            </c:numRef>
          </c:val>
          <c:extLst>
            <c:ext xmlns:c16="http://schemas.microsoft.com/office/drawing/2014/chart" uri="{C3380CC4-5D6E-409C-BE32-E72D297353CC}">
              <c16:uniqueId val="{00000000-D8DB-4B77-B92F-61C5F086C4D8}"/>
            </c:ext>
          </c:extLst>
        </c:ser>
        <c:ser>
          <c:idx val="1"/>
          <c:order val="1"/>
          <c:tx>
            <c:strRef>
              <c:f>PPT_G4!$C$1</c:f>
              <c:strCache>
                <c:ptCount val="1"/>
                <c:pt idx="0">
                  <c:v> total_purchases</c:v>
                </c:pt>
              </c:strCache>
            </c:strRef>
          </c:tx>
          <c:spPr>
            <a:solidFill>
              <a:srgbClr val="FFC000"/>
            </a:soli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PPT_G4!$A$2:$A$6</c:f>
              <c:strCache>
                <c:ptCount val="5"/>
                <c:pt idx="0">
                  <c:v>Van Halen</c:v>
                </c:pt>
                <c:pt idx="1">
                  <c:v>Eric Clapton</c:v>
                </c:pt>
                <c:pt idx="2">
                  <c:v>Nirvana</c:v>
                </c:pt>
                <c:pt idx="3">
                  <c:v>The Rolling Stones</c:v>
                </c:pt>
                <c:pt idx="4">
                  <c:v>Marvin Gaye</c:v>
                </c:pt>
              </c:strCache>
            </c:strRef>
          </c:cat>
          <c:val>
            <c:numRef>
              <c:f>PPT_G4!$C$2:$C$6</c:f>
              <c:numCache>
                <c:formatCode>General</c:formatCode>
                <c:ptCount val="5"/>
                <c:pt idx="0">
                  <c:v>43</c:v>
                </c:pt>
                <c:pt idx="1">
                  <c:v>34</c:v>
                </c:pt>
                <c:pt idx="2">
                  <c:v>35</c:v>
                </c:pt>
                <c:pt idx="3">
                  <c:v>37</c:v>
                </c:pt>
                <c:pt idx="4">
                  <c:v>26</c:v>
                </c:pt>
              </c:numCache>
            </c:numRef>
          </c:val>
          <c:extLst>
            <c:ext xmlns:c16="http://schemas.microsoft.com/office/drawing/2014/chart" uri="{C3380CC4-5D6E-409C-BE32-E72D297353CC}">
              <c16:uniqueId val="{00000001-D8DB-4B77-B92F-61C5F086C4D8}"/>
            </c:ext>
          </c:extLst>
        </c:ser>
        <c:dLbls>
          <c:dLblPos val="outEnd"/>
          <c:showLegendKey val="0"/>
          <c:showVal val="1"/>
          <c:showCatName val="0"/>
          <c:showSerName val="0"/>
          <c:showPercent val="0"/>
          <c:showBubbleSize val="0"/>
        </c:dLbls>
        <c:gapWidth val="100"/>
        <c:overlap val="-24"/>
        <c:axId val="1872651712"/>
        <c:axId val="1872644512"/>
      </c:barChart>
      <c:catAx>
        <c:axId val="187265171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872644512"/>
        <c:crosses val="autoZero"/>
        <c:auto val="1"/>
        <c:lblAlgn val="ctr"/>
        <c:lblOffset val="100"/>
        <c:noMultiLvlLbl val="0"/>
      </c:catAx>
      <c:valAx>
        <c:axId val="1872644512"/>
        <c:scaling>
          <c:orientation val="minMax"/>
        </c:scaling>
        <c:delete val="1"/>
        <c:axPos val="l"/>
        <c:numFmt formatCode="General" sourceLinked="1"/>
        <c:majorTickMark val="none"/>
        <c:minorTickMark val="none"/>
        <c:tickLblPos val="nextTo"/>
        <c:crossAx val="1872651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rgbClr val="7030A0"/>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sz="2000" dirty="0">
                <a:latin typeface="Times New Roman" panose="02020603050405020304" pitchFamily="18" charset="0"/>
                <a:cs typeface="Times New Roman" panose="02020603050405020304" pitchFamily="18" charset="0"/>
              </a:rPr>
              <a:t>Top</a:t>
            </a:r>
            <a:r>
              <a:rPr lang="en-US" sz="2000" baseline="0" dirty="0">
                <a:latin typeface="Times New Roman" panose="02020603050405020304" pitchFamily="18" charset="0"/>
                <a:cs typeface="Times New Roman" panose="02020603050405020304" pitchFamily="18" charset="0"/>
              </a:rPr>
              <a:t> 5 tracks in USA</a:t>
            </a:r>
            <a:endParaRPr lang="en-US" sz="2000" dirty="0">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PPT_G5!$B$1</c:f>
              <c:strCache>
                <c:ptCount val="1"/>
                <c:pt idx="0">
                  <c:v> total_revenue</c:v>
                </c:pt>
              </c:strCache>
            </c:strRef>
          </c:tx>
          <c:spPr>
            <a:solidFill>
              <a:schemeClr val="accent1"/>
            </a:solidFill>
            <a:ln>
              <a:noFill/>
            </a:ln>
            <a:effectLst/>
          </c:spPr>
          <c:invertIfNegative val="0"/>
          <c:dLbls>
            <c:dLbl>
              <c:idx val="0"/>
              <c:layout>
                <c:manualLayout>
                  <c:x val="-7.3725229708467331E-3"/>
                  <c:y val="-0.3605055150159097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70C-418B-952A-D24D0216EDA0}"/>
                </c:ext>
              </c:extLst>
            </c:dLbl>
            <c:dLbl>
              <c:idx val="1"/>
              <c:layout>
                <c:manualLayout>
                  <c:x val="-2.7778109417097886E-3"/>
                  <c:y val="-0.2659008251540054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70C-418B-952A-D24D0216EDA0}"/>
                </c:ext>
              </c:extLst>
            </c:dLbl>
            <c:dLbl>
              <c:idx val="2"/>
              <c:layout>
                <c:manualLayout>
                  <c:x val="-1.0185067526415994E-16"/>
                  <c:y val="-0.2407407407407407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70C-418B-952A-D24D0216EDA0}"/>
                </c:ext>
              </c:extLst>
            </c:dLbl>
            <c:dLbl>
              <c:idx val="3"/>
              <c:layout>
                <c:manualLayout>
                  <c:x val="-2.7777777777777779E-3"/>
                  <c:y val="-0.2314814814814815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70C-418B-952A-D24D0216EDA0}"/>
                </c:ext>
              </c:extLst>
            </c:dLbl>
            <c:dLbl>
              <c:idx val="4"/>
              <c:layout>
                <c:manualLayout>
                  <c:x val="0"/>
                  <c:y val="-0.23611111111111119"/>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70C-418B-952A-D24D0216EDA0}"/>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7030A0"/>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PPT_G5!$A$2:$A$6</c:f>
              <c:strCache>
                <c:ptCount val="5"/>
                <c:pt idx="0">
                  <c:v>War Pigs</c:v>
                </c:pt>
                <c:pt idx="1">
                  <c:v>Scentless Apprentice</c:v>
                </c:pt>
                <c:pt idx="2">
                  <c:v>You Know I'm No Good</c:v>
                </c:pt>
                <c:pt idx="3">
                  <c:v>Night Of The Long Knives</c:v>
                </c:pt>
                <c:pt idx="4">
                  <c:v>I Looked At You</c:v>
                </c:pt>
              </c:strCache>
            </c:strRef>
          </c:cat>
          <c:val>
            <c:numRef>
              <c:f>PPT_G5!$B$2:$B$6</c:f>
              <c:numCache>
                <c:formatCode>General</c:formatCode>
                <c:ptCount val="5"/>
                <c:pt idx="0">
                  <c:v>62.37</c:v>
                </c:pt>
                <c:pt idx="1">
                  <c:v>44.55</c:v>
                </c:pt>
                <c:pt idx="2">
                  <c:v>38.61</c:v>
                </c:pt>
                <c:pt idx="3">
                  <c:v>37.619999999999997</c:v>
                </c:pt>
                <c:pt idx="4">
                  <c:v>37.619999999999997</c:v>
                </c:pt>
              </c:numCache>
            </c:numRef>
          </c:val>
          <c:extLst>
            <c:ext xmlns:c16="http://schemas.microsoft.com/office/drawing/2014/chart" uri="{C3380CC4-5D6E-409C-BE32-E72D297353CC}">
              <c16:uniqueId val="{00000005-670C-418B-952A-D24D0216EDA0}"/>
            </c:ext>
          </c:extLst>
        </c:ser>
        <c:dLbls>
          <c:dLblPos val="ctr"/>
          <c:showLegendKey val="0"/>
          <c:showVal val="1"/>
          <c:showCatName val="0"/>
          <c:showSerName val="0"/>
          <c:showPercent val="0"/>
          <c:showBubbleSize val="0"/>
        </c:dLbls>
        <c:gapWidth val="79"/>
        <c:overlap val="100"/>
        <c:axId val="1872634912"/>
        <c:axId val="1872638272"/>
      </c:barChart>
      <c:catAx>
        <c:axId val="1872634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872638272"/>
        <c:crosses val="autoZero"/>
        <c:auto val="1"/>
        <c:lblAlgn val="ctr"/>
        <c:lblOffset val="100"/>
        <c:noMultiLvlLbl val="0"/>
      </c:catAx>
      <c:valAx>
        <c:axId val="1872638272"/>
        <c:scaling>
          <c:orientation val="minMax"/>
        </c:scaling>
        <c:delete val="1"/>
        <c:axPos val="l"/>
        <c:numFmt formatCode="General" sourceLinked="1"/>
        <c:majorTickMark val="none"/>
        <c:minorTickMark val="none"/>
        <c:tickLblPos val="nextTo"/>
        <c:crossAx val="18726349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US" dirty="0"/>
              <a:t> </a:t>
            </a:r>
            <a:r>
              <a:rPr lang="en-US" sz="2400" dirty="0">
                <a:latin typeface="Times New Roman" panose="02020603050405020304" pitchFamily="18" charset="0"/>
                <a:cs typeface="Times New Roman" panose="02020603050405020304" pitchFamily="18" charset="0"/>
              </a:rPr>
              <a:t>Customer</a:t>
            </a:r>
            <a:r>
              <a:rPr lang="en-US" sz="2400" baseline="0" dirty="0">
                <a:latin typeface="Times New Roman" panose="02020603050405020304" pitchFamily="18" charset="0"/>
                <a:cs typeface="Times New Roman" panose="02020603050405020304" pitchFamily="18" charset="0"/>
              </a:rPr>
              <a:t> Churn Rate</a:t>
            </a:r>
            <a:endParaRPr lang="en-US" sz="2400" dirty="0">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lotArea>
      <c:layout>
        <c:manualLayout>
          <c:layoutTarget val="inner"/>
          <c:xMode val="edge"/>
          <c:yMode val="edge"/>
          <c:x val="0.25312473739982994"/>
          <c:y val="0.18075449813199748"/>
          <c:w val="0.48869205016750028"/>
          <c:h val="0.67512963445044949"/>
        </c:manualLayout>
      </c:layout>
      <c:pieChart>
        <c:varyColors val="1"/>
        <c:ser>
          <c:idx val="0"/>
          <c:order val="0"/>
          <c:tx>
            <c:strRef>
              <c:f>PPT_G6!$B$1</c:f>
              <c:strCache>
                <c:ptCount val="1"/>
                <c:pt idx="0">
                  <c:v> total_chunk_customers</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74C3-49FB-A7D6-D6AA56F931D4}"/>
              </c:ext>
            </c:extLst>
          </c:dPt>
          <c:dPt>
            <c:idx val="1"/>
            <c:bubble3D val="0"/>
            <c:spPr>
              <a:solidFill>
                <a:srgbClr val="C49500"/>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74C3-49FB-A7D6-D6AA56F931D4}"/>
              </c:ext>
            </c:extLst>
          </c:dPt>
          <c:dLbls>
            <c:dLbl>
              <c:idx val="0"/>
              <c:layout>
                <c:manualLayout>
                  <c:x val="-0.14545348389258311"/>
                  <c:y val="0.13653304359275636"/>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4C3-49FB-A7D6-D6AA56F931D4}"/>
                </c:ext>
              </c:extLst>
            </c:dLbl>
            <c:dLbl>
              <c:idx val="1"/>
              <c:layout>
                <c:manualLayout>
                  <c:x val="0.12928367948355574"/>
                  <c:y val="-0.16111961548396694"/>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4C3-49FB-A7D6-D6AA56F931D4}"/>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7030A0"/>
                    </a:solidFill>
                    <a:latin typeface="Times New Roman" panose="02020603050405020304" pitchFamily="18" charset="0"/>
                    <a:ea typeface="+mn-ea"/>
                    <a:cs typeface="Times New Roman" panose="02020603050405020304" pitchFamily="18" charset="0"/>
                  </a:defRPr>
                </a:pPr>
                <a:endParaRPr lang="en-US"/>
              </a:p>
            </c:txPr>
            <c:dLblPos val="inEnd"/>
            <c:showLegendKey val="0"/>
            <c:showVal val="1"/>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PPT_G6!$A$2:$A$3</c:f>
              <c:strCache>
                <c:ptCount val="2"/>
                <c:pt idx="0">
                  <c:v>Churned customer</c:v>
                </c:pt>
                <c:pt idx="1">
                  <c:v>Active customer</c:v>
                </c:pt>
              </c:strCache>
            </c:strRef>
          </c:cat>
          <c:val>
            <c:numRef>
              <c:f>PPT_G6!$B$2:$B$3</c:f>
              <c:numCache>
                <c:formatCode>General</c:formatCode>
                <c:ptCount val="2"/>
                <c:pt idx="0">
                  <c:v>16</c:v>
                </c:pt>
                <c:pt idx="1">
                  <c:v>43</c:v>
                </c:pt>
              </c:numCache>
            </c:numRef>
          </c:val>
          <c:extLst>
            <c:ext xmlns:c16="http://schemas.microsoft.com/office/drawing/2014/chart" uri="{C3380CC4-5D6E-409C-BE32-E72D297353CC}">
              <c16:uniqueId val="{00000004-74C3-49FB-A7D6-D6AA56F931D4}"/>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000" b="1"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Recommanded Albums &amp; Genres</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Subjective_Q1!$E$1</c:f>
              <c:strCache>
                <c:ptCount val="1"/>
                <c:pt idx="0">
                  <c:v>total_sales</c:v>
                </c:pt>
              </c:strCache>
            </c:strRef>
          </c:tx>
          <c:spPr>
            <a:solidFill>
              <a:schemeClr val="accent1"/>
            </a:solidFill>
            <a:ln>
              <a:noFill/>
            </a:ln>
            <a:effectLst/>
          </c:spPr>
          <c:invertIfNegative val="0"/>
          <c:dLbls>
            <c:dLbl>
              <c:idx val="0"/>
              <c:layout>
                <c:manualLayout>
                  <c:x val="-2.304218116198283E-3"/>
                  <c:y val="-0.3368105229394937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7F8-47ED-890E-E2A0EBB3FEBC}"/>
                </c:ext>
              </c:extLst>
            </c:dLbl>
            <c:dLbl>
              <c:idx val="1"/>
              <c:layout>
                <c:manualLayout>
                  <c:x val="-2.3042181161982722E-3"/>
                  <c:y val="-0.3399879807030738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7F8-47ED-890E-E2A0EBB3FEBC}"/>
                </c:ext>
              </c:extLst>
            </c:dLbl>
            <c:dLbl>
              <c:idx val="2"/>
              <c:layout>
                <c:manualLayout>
                  <c:x val="-2.3042181161982722E-3"/>
                  <c:y val="-0.2700839099043109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7F8-47ED-890E-E2A0EBB3FEBC}"/>
                </c:ext>
              </c:extLst>
            </c:dLbl>
            <c:dLbl>
              <c:idx val="3"/>
              <c:layout>
                <c:manualLayout>
                  <c:x val="-8.4487021592653653E-17"/>
                  <c:y val="-0.2001798391055481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7F8-47ED-890E-E2A0EBB3FEBC}"/>
                </c:ext>
              </c:extLst>
            </c:dLbl>
            <c:dLbl>
              <c:idx val="4"/>
              <c:layout>
                <c:manualLayout>
                  <c:x val="-2.3042181161982722E-3"/>
                  <c:y val="-0.14298559936110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7F8-47ED-890E-E2A0EBB3FEBC}"/>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7030A0"/>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Subjective_Q1!$C$2:$D$6</c:f>
              <c:multiLvlStrCache>
                <c:ptCount val="5"/>
                <c:lvl>
                  <c:pt idx="0">
                    <c:v>Rock</c:v>
                  </c:pt>
                  <c:pt idx="1">
                    <c:v>Rock</c:v>
                  </c:pt>
                  <c:pt idx="2">
                    <c:v>Rock</c:v>
                  </c:pt>
                  <c:pt idx="3">
                    <c:v>R&amp;B/Soul</c:v>
                  </c:pt>
                  <c:pt idx="4">
                    <c:v>Alternative &amp; Punk</c:v>
                  </c:pt>
                </c:lvl>
                <c:lvl>
                  <c:pt idx="0">
                    <c:v>Are You Experienced?</c:v>
                  </c:pt>
                  <c:pt idx="1">
                    <c:v>From The Muddy Banks Of The Wishkah [live]</c:v>
                  </c:pt>
                  <c:pt idx="2">
                    <c:v>The Doors</c:v>
                  </c:pt>
                  <c:pt idx="3">
                    <c:v>Seek And Shall Find: More Of The Best (1963-1981)</c:v>
                  </c:pt>
                  <c:pt idx="4">
                    <c:v>Green</c:v>
                  </c:pt>
                </c:lvl>
              </c:multiLvlStrCache>
            </c:multiLvlStrRef>
          </c:cat>
          <c:val>
            <c:numRef>
              <c:f>Subjective_Q1!$E$2:$E$6</c:f>
              <c:numCache>
                <c:formatCode>General</c:formatCode>
                <c:ptCount val="5"/>
                <c:pt idx="0">
                  <c:v>27.72</c:v>
                </c:pt>
                <c:pt idx="1">
                  <c:v>27.72</c:v>
                </c:pt>
                <c:pt idx="2">
                  <c:v>26.73</c:v>
                </c:pt>
                <c:pt idx="3">
                  <c:v>25.74</c:v>
                </c:pt>
                <c:pt idx="4">
                  <c:v>24.75</c:v>
                </c:pt>
              </c:numCache>
            </c:numRef>
          </c:val>
          <c:extLst>
            <c:ext xmlns:c16="http://schemas.microsoft.com/office/drawing/2014/chart" uri="{C3380CC4-5D6E-409C-BE32-E72D297353CC}">
              <c16:uniqueId val="{00000000-17F8-47ED-890E-E2A0EBB3FEBC}"/>
            </c:ext>
          </c:extLst>
        </c:ser>
        <c:dLbls>
          <c:dLblPos val="ctr"/>
          <c:showLegendKey val="0"/>
          <c:showVal val="1"/>
          <c:showCatName val="0"/>
          <c:showSerName val="0"/>
          <c:showPercent val="0"/>
          <c:showBubbleSize val="0"/>
        </c:dLbls>
        <c:gapWidth val="79"/>
        <c:overlap val="100"/>
        <c:axId val="1936115248"/>
        <c:axId val="1936118128"/>
      </c:barChart>
      <c:catAx>
        <c:axId val="193611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50" b="1"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936118128"/>
        <c:crosses val="autoZero"/>
        <c:auto val="1"/>
        <c:lblAlgn val="ctr"/>
        <c:lblOffset val="100"/>
        <c:noMultiLvlLbl val="0"/>
      </c:catAx>
      <c:valAx>
        <c:axId val="1936118128"/>
        <c:scaling>
          <c:orientation val="minMax"/>
        </c:scaling>
        <c:delete val="1"/>
        <c:axPos val="l"/>
        <c:numFmt formatCode="General" sourceLinked="1"/>
        <c:majorTickMark val="none"/>
        <c:minorTickMark val="none"/>
        <c:tickLblPos val="nextTo"/>
        <c:crossAx val="19361152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Recommanded Albums &amp; Genres</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dLbls>
          <c:dLblPos val="ctr"/>
          <c:showLegendKey val="0"/>
          <c:showVal val="1"/>
          <c:showCatName val="0"/>
          <c:showSerName val="0"/>
          <c:showPercent val="0"/>
          <c:showBubbleSize val="0"/>
        </c:dLbls>
        <c:gapWidth val="79"/>
        <c:overlap val="100"/>
        <c:axId val="1936115248"/>
        <c:axId val="1936118128"/>
      </c:barChart>
      <c:catAx>
        <c:axId val="193611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50" b="1"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936118128"/>
        <c:crosses val="autoZero"/>
        <c:auto val="1"/>
        <c:lblAlgn val="ctr"/>
        <c:lblOffset val="100"/>
        <c:noMultiLvlLbl val="0"/>
      </c:catAx>
      <c:valAx>
        <c:axId val="1936118128"/>
        <c:scaling>
          <c:orientation val="minMax"/>
        </c:scaling>
        <c:delete val="1"/>
        <c:axPos val="l"/>
        <c:numFmt formatCode="General" sourceLinked="1"/>
        <c:majorTickMark val="none"/>
        <c:minorTickMark val="none"/>
        <c:tickLblPos val="nextTo"/>
        <c:crossAx val="19361152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IN" sz="2000" b="1" i="0" u="none" strike="noStrike" baseline="0" dirty="0">
                <a:effectLst/>
                <a:latin typeface="Times New Roman" panose="02020603050405020304" pitchFamily="18" charset="0"/>
                <a:cs typeface="Times New Roman" panose="02020603050405020304" pitchFamily="18" charset="0"/>
              </a:rPr>
              <a:t>Customer Purchasing Behaviour </a:t>
            </a:r>
            <a:endParaRPr lang="en-IN" sz="2000" dirty="0">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IN"/>
        </a:p>
      </c:txPr>
    </c:title>
    <c:autoTitleDeleted val="0"/>
    <c:plotArea>
      <c:layout/>
      <c:barChart>
        <c:barDir val="col"/>
        <c:grouping val="percentStacked"/>
        <c:varyColors val="0"/>
        <c:ser>
          <c:idx val="0"/>
          <c:order val="0"/>
          <c:tx>
            <c:strRef>
              <c:f>Subjective_Q3!$A$2</c:f>
              <c:strCache>
                <c:ptCount val="1"/>
                <c:pt idx="0">
                  <c:v>Long-Term</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lt1"/>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Subjective_Q3!$B$1:$D$1</c:f>
              <c:strCache>
                <c:ptCount val="3"/>
                <c:pt idx="0">
                  <c:v> avg_purchase_frequency</c:v>
                </c:pt>
                <c:pt idx="1">
                  <c:v> avg_basket_size</c:v>
                </c:pt>
                <c:pt idx="2">
                  <c:v> avg_total_amount</c:v>
                </c:pt>
              </c:strCache>
            </c:strRef>
          </c:cat>
          <c:val>
            <c:numRef>
              <c:f>Subjective_Q3!$B$2:$D$2</c:f>
              <c:numCache>
                <c:formatCode>General</c:formatCode>
                <c:ptCount val="3"/>
                <c:pt idx="0">
                  <c:v>464</c:v>
                </c:pt>
                <c:pt idx="1">
                  <c:v>7.77</c:v>
                </c:pt>
                <c:pt idx="2">
                  <c:v>36163.71</c:v>
                </c:pt>
              </c:numCache>
            </c:numRef>
          </c:val>
          <c:extLst>
            <c:ext xmlns:c16="http://schemas.microsoft.com/office/drawing/2014/chart" uri="{C3380CC4-5D6E-409C-BE32-E72D297353CC}">
              <c16:uniqueId val="{00000000-5FFC-4A7C-BB7E-89C5B3785347}"/>
            </c:ext>
          </c:extLst>
        </c:ser>
        <c:ser>
          <c:idx val="1"/>
          <c:order val="1"/>
          <c:tx>
            <c:strRef>
              <c:f>Subjective_Q3!$A$3</c:f>
              <c:strCache>
                <c:ptCount val="1"/>
                <c:pt idx="0">
                  <c:v>New</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lt1"/>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Subjective_Q3!$B$1:$D$1</c:f>
              <c:strCache>
                <c:ptCount val="3"/>
                <c:pt idx="0">
                  <c:v> avg_purchase_frequency</c:v>
                </c:pt>
                <c:pt idx="1">
                  <c:v> avg_basket_size</c:v>
                </c:pt>
                <c:pt idx="2">
                  <c:v> avg_total_amount</c:v>
                </c:pt>
              </c:strCache>
            </c:strRef>
          </c:cat>
          <c:val>
            <c:numRef>
              <c:f>Subjective_Q3!$B$3:$D$3</c:f>
              <c:numCache>
                <c:formatCode>General</c:formatCode>
                <c:ptCount val="3"/>
                <c:pt idx="0">
                  <c:v>150</c:v>
                </c:pt>
                <c:pt idx="1">
                  <c:v>7.67</c:v>
                </c:pt>
                <c:pt idx="2">
                  <c:v>11339.46</c:v>
                </c:pt>
              </c:numCache>
            </c:numRef>
          </c:val>
          <c:extLst>
            <c:ext xmlns:c16="http://schemas.microsoft.com/office/drawing/2014/chart" uri="{C3380CC4-5D6E-409C-BE32-E72D297353CC}">
              <c16:uniqueId val="{00000001-5FFC-4A7C-BB7E-89C5B3785347}"/>
            </c:ext>
          </c:extLst>
        </c:ser>
        <c:dLbls>
          <c:dLblPos val="ctr"/>
          <c:showLegendKey val="0"/>
          <c:showVal val="1"/>
          <c:showCatName val="0"/>
          <c:showSerName val="0"/>
          <c:showPercent val="0"/>
          <c:showBubbleSize val="0"/>
        </c:dLbls>
        <c:gapWidth val="150"/>
        <c:overlap val="100"/>
        <c:axId val="1429605104"/>
        <c:axId val="1429611344"/>
      </c:barChart>
      <c:catAx>
        <c:axId val="142960510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850" b="1" i="0" u="none" strike="noStrike" kern="1200" cap="all" baseline="0">
                <a:solidFill>
                  <a:schemeClr val="dk1">
                    <a:lumMod val="75000"/>
                    <a:lumOff val="25000"/>
                  </a:schemeClr>
                </a:solidFill>
                <a:latin typeface="+mn-lt"/>
                <a:ea typeface="+mn-ea"/>
                <a:cs typeface="+mn-cs"/>
              </a:defRPr>
            </a:pPr>
            <a:endParaRPr lang="en-US"/>
          </a:p>
        </c:txPr>
        <c:crossAx val="1429611344"/>
        <c:crosses val="autoZero"/>
        <c:auto val="1"/>
        <c:lblAlgn val="ctr"/>
        <c:lblOffset val="100"/>
        <c:noMultiLvlLbl val="0"/>
      </c:catAx>
      <c:valAx>
        <c:axId val="1429611344"/>
        <c:scaling>
          <c:orientation val="minMax"/>
        </c:scaling>
        <c:delete val="1"/>
        <c:axPos val="l"/>
        <c:numFmt formatCode="0%" sourceLinked="1"/>
        <c:majorTickMark val="none"/>
        <c:minorTickMark val="none"/>
        <c:tickLblPos val="nextTo"/>
        <c:crossAx val="1429605104"/>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rgbClr val="7030A0"/>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1" i="0" u="none" strike="noStrike" kern="1200" cap="none" spc="50" normalizeH="0" baseline="0" dirty="0">
                <a:solidFill>
                  <a:srgbClr val="7030A0"/>
                </a:solidFill>
                <a:latin typeface="Times New Roman" panose="02020603050405020304" pitchFamily="18" charset="0"/>
                <a:cs typeface="Times New Roman" panose="02020603050405020304" pitchFamily="18" charset="0"/>
              </a:rPr>
              <a:t>Customer Regional Market Analysis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PPT_G10!$B$1</c:f>
              <c:strCache>
                <c:ptCount val="1"/>
                <c:pt idx="0">
                  <c:v> revenue</c:v>
                </c:pt>
              </c:strCache>
            </c:strRef>
          </c:tx>
          <c:spPr>
            <a:solidFill>
              <a:schemeClr val="accent1"/>
            </a:solidFill>
            <a:ln>
              <a:noFill/>
            </a:ln>
            <a:effectLst/>
          </c:spPr>
          <c:invertIfNegative val="0"/>
          <c:cat>
            <c:strRef>
              <c:f>PPT_G10!$A$2:$A$25</c:f>
              <c:strCache>
                <c:ptCount val="24"/>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pt idx="23">
                  <c:v>USA</c:v>
                </c:pt>
              </c:strCache>
            </c:strRef>
          </c:cat>
          <c:val>
            <c:numRef>
              <c:f>PPT_G10!$B$2:$B$25</c:f>
              <c:numCache>
                <c:formatCode>General</c:formatCode>
                <c:ptCount val="24"/>
                <c:pt idx="0">
                  <c:v>39.6</c:v>
                </c:pt>
                <c:pt idx="1">
                  <c:v>81.180000000000007</c:v>
                </c:pt>
                <c:pt idx="2">
                  <c:v>69.3</c:v>
                </c:pt>
                <c:pt idx="3">
                  <c:v>60.39</c:v>
                </c:pt>
                <c:pt idx="4">
                  <c:v>427.68</c:v>
                </c:pt>
                <c:pt idx="5">
                  <c:v>535.59</c:v>
                </c:pt>
                <c:pt idx="6">
                  <c:v>97.02</c:v>
                </c:pt>
                <c:pt idx="7">
                  <c:v>273.24</c:v>
                </c:pt>
                <c:pt idx="8">
                  <c:v>37.619999999999997</c:v>
                </c:pt>
                <c:pt idx="9">
                  <c:v>79.2</c:v>
                </c:pt>
                <c:pt idx="10">
                  <c:v>389.07</c:v>
                </c:pt>
                <c:pt idx="11">
                  <c:v>334.62</c:v>
                </c:pt>
                <c:pt idx="12">
                  <c:v>78.209999999999994</c:v>
                </c:pt>
                <c:pt idx="13">
                  <c:v>183.15</c:v>
                </c:pt>
                <c:pt idx="14">
                  <c:v>114.84</c:v>
                </c:pt>
                <c:pt idx="15">
                  <c:v>50.49</c:v>
                </c:pt>
                <c:pt idx="16">
                  <c:v>65.34</c:v>
                </c:pt>
                <c:pt idx="17">
                  <c:v>72.27</c:v>
                </c:pt>
                <c:pt idx="18">
                  <c:v>76.23</c:v>
                </c:pt>
                <c:pt idx="19">
                  <c:v>185.13</c:v>
                </c:pt>
                <c:pt idx="20">
                  <c:v>98.01</c:v>
                </c:pt>
                <c:pt idx="21">
                  <c:v>75.239999999999995</c:v>
                </c:pt>
                <c:pt idx="22">
                  <c:v>245.52</c:v>
                </c:pt>
                <c:pt idx="23">
                  <c:v>1040.49</c:v>
                </c:pt>
              </c:numCache>
            </c:numRef>
          </c:val>
          <c:extLst>
            <c:ext xmlns:c16="http://schemas.microsoft.com/office/drawing/2014/chart" uri="{C3380CC4-5D6E-409C-BE32-E72D297353CC}">
              <c16:uniqueId val="{00000000-9126-4BB5-80ED-0F615DA4C692}"/>
            </c:ext>
          </c:extLst>
        </c:ser>
        <c:ser>
          <c:idx val="1"/>
          <c:order val="1"/>
          <c:tx>
            <c:strRef>
              <c:f>PPT_G10!$C$1</c:f>
              <c:strCache>
                <c:ptCount val="1"/>
                <c:pt idx="0">
                  <c:v> total_orders</c:v>
                </c:pt>
              </c:strCache>
            </c:strRef>
          </c:tx>
          <c:spPr>
            <a:solidFill>
              <a:schemeClr val="accent2"/>
            </a:solidFill>
            <a:ln>
              <a:noFill/>
            </a:ln>
            <a:effectLst/>
          </c:spPr>
          <c:invertIfNegative val="0"/>
          <c:cat>
            <c:strRef>
              <c:f>PPT_G10!$A$2:$A$25</c:f>
              <c:strCache>
                <c:ptCount val="24"/>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pt idx="23">
                  <c:v>USA</c:v>
                </c:pt>
              </c:strCache>
            </c:strRef>
          </c:cat>
          <c:val>
            <c:numRef>
              <c:f>PPT_G10!$C$2:$C$25</c:f>
              <c:numCache>
                <c:formatCode>General</c:formatCode>
                <c:ptCount val="24"/>
                <c:pt idx="0">
                  <c:v>5</c:v>
                </c:pt>
                <c:pt idx="1">
                  <c:v>10</c:v>
                </c:pt>
                <c:pt idx="2">
                  <c:v>9</c:v>
                </c:pt>
                <c:pt idx="3">
                  <c:v>7</c:v>
                </c:pt>
                <c:pt idx="4">
                  <c:v>61</c:v>
                </c:pt>
                <c:pt idx="5">
                  <c:v>76</c:v>
                </c:pt>
                <c:pt idx="6">
                  <c:v>13</c:v>
                </c:pt>
                <c:pt idx="7">
                  <c:v>30</c:v>
                </c:pt>
                <c:pt idx="8">
                  <c:v>10</c:v>
                </c:pt>
                <c:pt idx="9">
                  <c:v>11</c:v>
                </c:pt>
                <c:pt idx="10">
                  <c:v>50</c:v>
                </c:pt>
                <c:pt idx="11">
                  <c:v>41</c:v>
                </c:pt>
                <c:pt idx="12">
                  <c:v>10</c:v>
                </c:pt>
                <c:pt idx="13">
                  <c:v>21</c:v>
                </c:pt>
                <c:pt idx="14">
                  <c:v>13</c:v>
                </c:pt>
                <c:pt idx="15">
                  <c:v>9</c:v>
                </c:pt>
                <c:pt idx="16">
                  <c:v>10</c:v>
                </c:pt>
                <c:pt idx="17">
                  <c:v>9</c:v>
                </c:pt>
                <c:pt idx="18">
                  <c:v>10</c:v>
                </c:pt>
                <c:pt idx="19">
                  <c:v>29</c:v>
                </c:pt>
                <c:pt idx="20">
                  <c:v>11</c:v>
                </c:pt>
                <c:pt idx="21">
                  <c:v>10</c:v>
                </c:pt>
                <c:pt idx="22">
                  <c:v>28</c:v>
                </c:pt>
                <c:pt idx="23">
                  <c:v>131</c:v>
                </c:pt>
              </c:numCache>
            </c:numRef>
          </c:val>
          <c:extLst>
            <c:ext xmlns:c16="http://schemas.microsoft.com/office/drawing/2014/chart" uri="{C3380CC4-5D6E-409C-BE32-E72D297353CC}">
              <c16:uniqueId val="{00000001-9126-4BB5-80ED-0F615DA4C692}"/>
            </c:ext>
          </c:extLst>
        </c:ser>
        <c:ser>
          <c:idx val="2"/>
          <c:order val="2"/>
          <c:tx>
            <c:strRef>
              <c:f>PPT_G10!$D$1</c:f>
              <c:strCache>
                <c:ptCount val="1"/>
                <c:pt idx="0">
                  <c:v> total_customers</c:v>
                </c:pt>
              </c:strCache>
            </c:strRef>
          </c:tx>
          <c:spPr>
            <a:solidFill>
              <a:schemeClr val="accent3"/>
            </a:solidFill>
            <a:ln>
              <a:noFill/>
            </a:ln>
            <a:effectLst/>
          </c:spPr>
          <c:invertIfNegative val="0"/>
          <c:cat>
            <c:strRef>
              <c:f>PPT_G10!$A$2:$A$25</c:f>
              <c:strCache>
                <c:ptCount val="24"/>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pt idx="23">
                  <c:v>USA</c:v>
                </c:pt>
              </c:strCache>
            </c:strRef>
          </c:cat>
          <c:val>
            <c:numRef>
              <c:f>PPT_G10!$D$2:$D$25</c:f>
              <c:numCache>
                <c:formatCode>General</c:formatCode>
                <c:ptCount val="24"/>
                <c:pt idx="0">
                  <c:v>1</c:v>
                </c:pt>
                <c:pt idx="1">
                  <c:v>1</c:v>
                </c:pt>
                <c:pt idx="2">
                  <c:v>1</c:v>
                </c:pt>
                <c:pt idx="3">
                  <c:v>1</c:v>
                </c:pt>
                <c:pt idx="4">
                  <c:v>5</c:v>
                </c:pt>
                <c:pt idx="5">
                  <c:v>8</c:v>
                </c:pt>
                <c:pt idx="6">
                  <c:v>1</c:v>
                </c:pt>
                <c:pt idx="7">
                  <c:v>2</c:v>
                </c:pt>
                <c:pt idx="8">
                  <c:v>1</c:v>
                </c:pt>
                <c:pt idx="9">
                  <c:v>1</c:v>
                </c:pt>
                <c:pt idx="10">
                  <c:v>5</c:v>
                </c:pt>
                <c:pt idx="11">
                  <c:v>4</c:v>
                </c:pt>
                <c:pt idx="12">
                  <c:v>1</c:v>
                </c:pt>
                <c:pt idx="13">
                  <c:v>2</c:v>
                </c:pt>
                <c:pt idx="14">
                  <c:v>1</c:v>
                </c:pt>
                <c:pt idx="15">
                  <c:v>1</c:v>
                </c:pt>
                <c:pt idx="16">
                  <c:v>1</c:v>
                </c:pt>
                <c:pt idx="17">
                  <c:v>1</c:v>
                </c:pt>
                <c:pt idx="18">
                  <c:v>1</c:v>
                </c:pt>
                <c:pt idx="19">
                  <c:v>2</c:v>
                </c:pt>
                <c:pt idx="20">
                  <c:v>1</c:v>
                </c:pt>
                <c:pt idx="21">
                  <c:v>1</c:v>
                </c:pt>
                <c:pt idx="22">
                  <c:v>3</c:v>
                </c:pt>
                <c:pt idx="23">
                  <c:v>13</c:v>
                </c:pt>
              </c:numCache>
            </c:numRef>
          </c:val>
          <c:extLst>
            <c:ext xmlns:c16="http://schemas.microsoft.com/office/drawing/2014/chart" uri="{C3380CC4-5D6E-409C-BE32-E72D297353CC}">
              <c16:uniqueId val="{00000002-9126-4BB5-80ED-0F615DA4C692}"/>
            </c:ext>
          </c:extLst>
        </c:ser>
        <c:ser>
          <c:idx val="3"/>
          <c:order val="3"/>
          <c:tx>
            <c:strRef>
              <c:f>PPT_G10!$E$1</c:f>
              <c:strCache>
                <c:ptCount val="1"/>
                <c:pt idx="0">
                  <c:v> churn_percentage</c:v>
                </c:pt>
              </c:strCache>
            </c:strRef>
          </c:tx>
          <c:spPr>
            <a:solidFill>
              <a:schemeClr val="accent4"/>
            </a:solidFill>
            <a:ln>
              <a:noFill/>
            </a:ln>
            <a:effectLst/>
          </c:spPr>
          <c:invertIfNegative val="0"/>
          <c:cat>
            <c:strRef>
              <c:f>PPT_G10!$A$2:$A$25</c:f>
              <c:strCache>
                <c:ptCount val="24"/>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pt idx="23">
                  <c:v>USA</c:v>
                </c:pt>
              </c:strCache>
            </c:strRef>
          </c:cat>
          <c:val>
            <c:numRef>
              <c:f>PPT_G10!$E$2:$E$25</c:f>
              <c:numCache>
                <c:formatCode>General</c:formatCode>
                <c:ptCount val="24"/>
                <c:pt idx="0">
                  <c:v>100</c:v>
                </c:pt>
                <c:pt idx="1">
                  <c:v>0</c:v>
                </c:pt>
                <c:pt idx="2">
                  <c:v>100</c:v>
                </c:pt>
                <c:pt idx="3">
                  <c:v>100</c:v>
                </c:pt>
                <c:pt idx="4">
                  <c:v>60</c:v>
                </c:pt>
                <c:pt idx="5">
                  <c:v>12.5</c:v>
                </c:pt>
                <c:pt idx="6">
                  <c:v>100</c:v>
                </c:pt>
                <c:pt idx="7">
                  <c:v>0</c:v>
                </c:pt>
                <c:pt idx="8">
                  <c:v>100</c:v>
                </c:pt>
                <c:pt idx="9">
                  <c:v>0</c:v>
                </c:pt>
                <c:pt idx="10">
                  <c:v>40</c:v>
                </c:pt>
                <c:pt idx="11">
                  <c:v>75</c:v>
                </c:pt>
                <c:pt idx="12">
                  <c:v>0</c:v>
                </c:pt>
                <c:pt idx="13">
                  <c:v>50</c:v>
                </c:pt>
                <c:pt idx="14">
                  <c:v>0</c:v>
                </c:pt>
                <c:pt idx="15">
                  <c:v>0</c:v>
                </c:pt>
                <c:pt idx="16">
                  <c:v>100</c:v>
                </c:pt>
                <c:pt idx="17">
                  <c:v>100</c:v>
                </c:pt>
                <c:pt idx="18">
                  <c:v>0</c:v>
                </c:pt>
                <c:pt idx="19">
                  <c:v>0</c:v>
                </c:pt>
                <c:pt idx="20">
                  <c:v>100</c:v>
                </c:pt>
                <c:pt idx="21">
                  <c:v>0</c:v>
                </c:pt>
                <c:pt idx="22">
                  <c:v>33.33</c:v>
                </c:pt>
                <c:pt idx="23">
                  <c:v>23.08</c:v>
                </c:pt>
              </c:numCache>
            </c:numRef>
          </c:val>
          <c:extLst>
            <c:ext xmlns:c16="http://schemas.microsoft.com/office/drawing/2014/chart" uri="{C3380CC4-5D6E-409C-BE32-E72D297353CC}">
              <c16:uniqueId val="{00000003-9126-4BB5-80ED-0F615DA4C692}"/>
            </c:ext>
          </c:extLst>
        </c:ser>
        <c:dLbls>
          <c:showLegendKey val="0"/>
          <c:showVal val="0"/>
          <c:showCatName val="0"/>
          <c:showSerName val="0"/>
          <c:showPercent val="0"/>
          <c:showBubbleSize val="0"/>
        </c:dLbls>
        <c:gapWidth val="150"/>
        <c:overlap val="100"/>
        <c:axId val="411827488"/>
        <c:axId val="411827968"/>
      </c:barChart>
      <c:catAx>
        <c:axId val="41182748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1827968"/>
        <c:crosses val="autoZero"/>
        <c:auto val="1"/>
        <c:lblAlgn val="ctr"/>
        <c:lblOffset val="100"/>
        <c:noMultiLvlLbl val="0"/>
      </c:catAx>
      <c:valAx>
        <c:axId val="41182796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182748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rgbClr val="7030A0"/>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Recommanded Albums &amp; Genres</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dLbls>
          <c:dLblPos val="ctr"/>
          <c:showLegendKey val="0"/>
          <c:showVal val="1"/>
          <c:showCatName val="0"/>
          <c:showSerName val="0"/>
          <c:showPercent val="0"/>
          <c:showBubbleSize val="0"/>
        </c:dLbls>
        <c:gapWidth val="79"/>
        <c:overlap val="100"/>
        <c:axId val="1936115248"/>
        <c:axId val="1936118128"/>
      </c:barChart>
      <c:catAx>
        <c:axId val="193611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50" b="1"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936118128"/>
        <c:crosses val="autoZero"/>
        <c:auto val="1"/>
        <c:lblAlgn val="ctr"/>
        <c:lblOffset val="100"/>
        <c:noMultiLvlLbl val="0"/>
      </c:catAx>
      <c:valAx>
        <c:axId val="1936118128"/>
        <c:scaling>
          <c:orientation val="minMax"/>
        </c:scaling>
        <c:delete val="1"/>
        <c:axPos val="l"/>
        <c:numFmt formatCode="General" sourceLinked="1"/>
        <c:majorTickMark val="none"/>
        <c:minorTickMark val="none"/>
        <c:tickLblPos val="nextTo"/>
        <c:crossAx val="19361152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[Chinook_excel.xlsx]Subjective_Q6!PivotTable3</c:name>
    <c:fmtId val="14"/>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sz="2000" dirty="0">
                <a:solidFill>
                  <a:srgbClr val="7030A0"/>
                </a:solidFill>
                <a:latin typeface="Times New Roman" panose="02020603050405020304" pitchFamily="18" charset="0"/>
                <a:cs typeface="Times New Roman" panose="02020603050405020304" pitchFamily="18" charset="0"/>
              </a:rPr>
              <a:t>Customer Risk Profiling</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IN"/>
        </a:p>
      </c:txPr>
    </c:title>
    <c:autoTitleDeleted val="0"/>
    <c:pivotFmts>
      <c:pivotFmt>
        <c:idx val="0"/>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Subjective_Q6!$J$4</c:f>
              <c:strCache>
                <c:ptCount val="1"/>
                <c:pt idx="0">
                  <c:v>Average of  total_spent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Subjective_Q6!$I$5:$I$7</c:f>
              <c:strCache>
                <c:ptCount val="2"/>
                <c:pt idx="0">
                  <c:v>High Risk</c:v>
                </c:pt>
                <c:pt idx="1">
                  <c:v>Low Risk</c:v>
                </c:pt>
              </c:strCache>
            </c:strRef>
          </c:cat>
          <c:val>
            <c:numRef>
              <c:f>Subjective_Q6!$J$5:$J$7</c:f>
              <c:numCache>
                <c:formatCode>0.0</c:formatCode>
                <c:ptCount val="2"/>
                <c:pt idx="0">
                  <c:v>72.930000000000021</c:v>
                </c:pt>
                <c:pt idx="1">
                  <c:v>82.676511627906976</c:v>
                </c:pt>
              </c:numCache>
            </c:numRef>
          </c:val>
          <c:extLst>
            <c:ext xmlns:c16="http://schemas.microsoft.com/office/drawing/2014/chart" uri="{C3380CC4-5D6E-409C-BE32-E72D297353CC}">
              <c16:uniqueId val="{00000000-4EE3-44D7-A213-89D093AD830A}"/>
            </c:ext>
          </c:extLst>
        </c:ser>
        <c:ser>
          <c:idx val="1"/>
          <c:order val="1"/>
          <c:tx>
            <c:strRef>
              <c:f>Subjective_Q6!$K$4</c:f>
              <c:strCache>
                <c:ptCount val="1"/>
                <c:pt idx="0">
                  <c:v>Average of  total_orders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Subjective_Q6!$I$5:$I$7</c:f>
              <c:strCache>
                <c:ptCount val="2"/>
                <c:pt idx="0">
                  <c:v>High Risk</c:v>
                </c:pt>
                <c:pt idx="1">
                  <c:v>Low Risk</c:v>
                </c:pt>
              </c:strCache>
            </c:strRef>
          </c:cat>
          <c:val>
            <c:numRef>
              <c:f>Subjective_Q6!$K$5:$K$7</c:f>
              <c:numCache>
                <c:formatCode>0.0</c:formatCode>
                <c:ptCount val="2"/>
                <c:pt idx="0">
                  <c:v>9.1333333333333329</c:v>
                </c:pt>
                <c:pt idx="1">
                  <c:v>10.930232558139535</c:v>
                </c:pt>
              </c:numCache>
            </c:numRef>
          </c:val>
          <c:extLst>
            <c:ext xmlns:c16="http://schemas.microsoft.com/office/drawing/2014/chart" uri="{C3380CC4-5D6E-409C-BE32-E72D297353CC}">
              <c16:uniqueId val="{00000001-4EE3-44D7-A213-89D093AD830A}"/>
            </c:ext>
          </c:extLst>
        </c:ser>
        <c:ser>
          <c:idx val="2"/>
          <c:order val="2"/>
          <c:tx>
            <c:strRef>
              <c:f>Subjective_Q6!$L$4</c:f>
              <c:strCache>
                <c:ptCount val="1"/>
                <c:pt idx="0">
                  <c:v>Average of  avg_order_amount</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Subjective_Q6!$I$5:$I$7</c:f>
              <c:strCache>
                <c:ptCount val="2"/>
                <c:pt idx="0">
                  <c:v>High Risk</c:v>
                </c:pt>
                <c:pt idx="1">
                  <c:v>Low Risk</c:v>
                </c:pt>
              </c:strCache>
            </c:strRef>
          </c:cat>
          <c:val>
            <c:numRef>
              <c:f>Subjective_Q6!$L$5:$L$7</c:f>
              <c:numCache>
                <c:formatCode>0.0</c:formatCode>
                <c:ptCount val="2"/>
                <c:pt idx="0">
                  <c:v>8.1411718000000004</c:v>
                </c:pt>
                <c:pt idx="1">
                  <c:v>7.6022135581395354</c:v>
                </c:pt>
              </c:numCache>
            </c:numRef>
          </c:val>
          <c:extLst>
            <c:ext xmlns:c16="http://schemas.microsoft.com/office/drawing/2014/chart" uri="{C3380CC4-5D6E-409C-BE32-E72D297353CC}">
              <c16:uniqueId val="{00000002-4EE3-44D7-A213-89D093AD830A}"/>
            </c:ext>
          </c:extLst>
        </c:ser>
        <c:dLbls>
          <c:dLblPos val="outEnd"/>
          <c:showLegendKey val="0"/>
          <c:showVal val="1"/>
          <c:showCatName val="0"/>
          <c:showSerName val="0"/>
          <c:showPercent val="0"/>
          <c:showBubbleSize val="0"/>
        </c:dLbls>
        <c:gapWidth val="100"/>
        <c:overlap val="-24"/>
        <c:axId val="1872623872"/>
        <c:axId val="1872624352"/>
      </c:barChart>
      <c:catAx>
        <c:axId val="187262387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872624352"/>
        <c:crosses val="autoZero"/>
        <c:auto val="1"/>
        <c:lblAlgn val="ctr"/>
        <c:lblOffset val="100"/>
        <c:noMultiLvlLbl val="0"/>
      </c:catAx>
      <c:valAx>
        <c:axId val="1872624352"/>
        <c:scaling>
          <c:orientation val="minMax"/>
        </c:scaling>
        <c:delete val="1"/>
        <c:axPos val="l"/>
        <c:numFmt formatCode="0.0" sourceLinked="1"/>
        <c:majorTickMark val="none"/>
        <c:minorTickMark val="none"/>
        <c:tickLblPos val="nextTo"/>
        <c:crossAx val="187262387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7030A0"/>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Recommanded Albums &amp; Genres</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dLbls>
          <c:dLblPos val="ctr"/>
          <c:showLegendKey val="0"/>
          <c:showVal val="1"/>
          <c:showCatName val="0"/>
          <c:showSerName val="0"/>
          <c:showPercent val="0"/>
          <c:showBubbleSize val="0"/>
        </c:dLbls>
        <c:gapWidth val="79"/>
        <c:overlap val="100"/>
        <c:axId val="1936115248"/>
        <c:axId val="1936118128"/>
      </c:barChart>
      <c:catAx>
        <c:axId val="193611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50" b="1"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936118128"/>
        <c:crosses val="autoZero"/>
        <c:auto val="1"/>
        <c:lblAlgn val="ctr"/>
        <c:lblOffset val="100"/>
        <c:noMultiLvlLbl val="0"/>
      </c:catAx>
      <c:valAx>
        <c:axId val="1936118128"/>
        <c:scaling>
          <c:orientation val="minMax"/>
        </c:scaling>
        <c:delete val="1"/>
        <c:axPos val="l"/>
        <c:numFmt formatCode="General" sourceLinked="1"/>
        <c:majorTickMark val="none"/>
        <c:minorTickMark val="none"/>
        <c:tickLblPos val="nextTo"/>
        <c:crossAx val="19361152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[Chinook_excel.xlsx]Subjective_Q7!PivotTable4</c:name>
    <c:fmtId val="17"/>
  </c:pivotSource>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IN" sz="2000" dirty="0">
                <a:solidFill>
                  <a:srgbClr val="7030A0"/>
                </a:solidFill>
                <a:latin typeface="Times New Roman" panose="02020603050405020304" pitchFamily="18" charset="0"/>
                <a:cs typeface="Times New Roman" panose="02020603050405020304" pitchFamily="18" charset="0"/>
              </a:rPr>
              <a:t>Customer Lifetime Value Model</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IN"/>
        </a:p>
      </c:txPr>
    </c:title>
    <c:autoTitleDeleted val="0"/>
    <c:pivotFmts>
      <c:pivotFmt>
        <c:idx val="0"/>
        <c:dLbl>
          <c:idx val="0"/>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1"/>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dLbl>
          <c:idx val="0"/>
          <c:layout>
            <c:manualLayout>
              <c:x val="-6.1111111111111165E-2"/>
              <c:y val="4.1666666666666664E-2"/>
            </c:manualLayout>
          </c:layout>
          <c:showLegendKey val="0"/>
          <c:showVal val="1"/>
          <c:showCatName val="0"/>
          <c:showSerName val="0"/>
          <c:showPercent val="0"/>
          <c:showBubbleSize val="0"/>
          <c:extLst>
            <c:ext xmlns:c15="http://schemas.microsoft.com/office/drawing/2012/chart" uri="{CE6537A1-D6FC-4f65-9D91-7224C49458BB}"/>
          </c:extLst>
        </c:dLbl>
      </c:pivotFmt>
      <c:pivotFmt>
        <c:idx val="4"/>
        <c:dLbl>
          <c:idx val="0"/>
          <c:layout>
            <c:manualLayout>
              <c:x val="-4.7222222222222221E-2"/>
              <c:y val="6.0185185185185182E-2"/>
            </c:manualLayout>
          </c:layout>
          <c:showLegendKey val="0"/>
          <c:showVal val="1"/>
          <c:showCatName val="0"/>
          <c:showSerName val="0"/>
          <c:showPercent val="0"/>
          <c:showBubbleSize val="0"/>
          <c:extLst>
            <c:ext xmlns:c15="http://schemas.microsoft.com/office/drawing/2012/chart" uri="{CE6537A1-D6FC-4f65-9D91-7224C49458BB}"/>
          </c:extLst>
        </c:dLbl>
      </c:pivotFmt>
      <c:pivotFmt>
        <c:idx val="5"/>
        <c:dLbl>
          <c:idx val="0"/>
          <c:layout>
            <c:manualLayout>
              <c:x val="8.3333333333332309E-3"/>
              <c:y val="-9.2592592592592587E-3"/>
            </c:manualLayout>
          </c:layout>
          <c:showLegendKey val="0"/>
          <c:showVal val="1"/>
          <c:showCatName val="0"/>
          <c:showSerName val="0"/>
          <c:showPercent val="0"/>
          <c:showBubbleSize val="0"/>
          <c:extLst>
            <c:ext xmlns:c15="http://schemas.microsoft.com/office/drawing/2012/chart" uri="{CE6537A1-D6FC-4f65-9D91-7224C49458BB}"/>
          </c:extLst>
        </c:dLbl>
      </c:pivotFmt>
      <c:pivotFmt>
        <c:idx val="6"/>
        <c:dLbl>
          <c:idx val="0"/>
          <c:showLegendKey val="0"/>
          <c:showVal val="1"/>
          <c:showCatName val="0"/>
          <c:showSerName val="0"/>
          <c:showPercent val="0"/>
          <c:showBubbleSize val="0"/>
          <c:extLst>
            <c:ext xmlns:c15="http://schemas.microsoft.com/office/drawing/2012/chart" uri="{CE6537A1-D6FC-4f65-9D91-7224C49458BB}"/>
          </c:extLst>
        </c:dLbl>
      </c:pivotFmt>
      <c:pivotFmt>
        <c:idx val="7"/>
        <c:dLbl>
          <c:idx val="0"/>
          <c:showLegendKey val="0"/>
          <c:showVal val="1"/>
          <c:showCatName val="0"/>
          <c:showSerName val="0"/>
          <c:showPercent val="0"/>
          <c:showBubbleSize val="0"/>
          <c:extLst>
            <c:ext xmlns:c15="http://schemas.microsoft.com/office/drawing/2012/chart" uri="{CE6537A1-D6FC-4f65-9D91-7224C49458BB}"/>
          </c:extLst>
        </c:dLbl>
      </c:pivotFmt>
      <c:pivotFmt>
        <c:idx val="8"/>
        <c:dLbl>
          <c:idx val="0"/>
          <c:layout>
            <c:manualLayout>
              <c:x val="8.3333333333332309E-3"/>
              <c:y val="-9.2592592592592587E-3"/>
            </c:manualLayout>
          </c:layout>
          <c:showLegendKey val="0"/>
          <c:showVal val="1"/>
          <c:showCatName val="0"/>
          <c:showSerName val="0"/>
          <c:showPercent val="0"/>
          <c:showBubbleSize val="0"/>
          <c:extLst>
            <c:ext xmlns:c15="http://schemas.microsoft.com/office/drawing/2012/chart" uri="{CE6537A1-D6FC-4f65-9D91-7224C49458BB}"/>
          </c:extLst>
        </c:dLbl>
      </c:pivotFmt>
      <c:pivotFmt>
        <c:idx val="9"/>
        <c:dLbl>
          <c:idx val="0"/>
          <c:showLegendKey val="0"/>
          <c:showVal val="1"/>
          <c:showCatName val="0"/>
          <c:showSerName val="0"/>
          <c:showPercent val="0"/>
          <c:showBubbleSize val="0"/>
          <c:extLst>
            <c:ext xmlns:c15="http://schemas.microsoft.com/office/drawing/2012/chart" uri="{CE6537A1-D6FC-4f65-9D91-7224C49458BB}"/>
          </c:extLst>
        </c:dLbl>
      </c:pivotFmt>
      <c:pivotFmt>
        <c:idx val="10"/>
        <c:dLbl>
          <c:idx val="0"/>
          <c:layout>
            <c:manualLayout>
              <c:x val="-4.7222222222222221E-2"/>
              <c:y val="6.0185185185185182E-2"/>
            </c:manualLayout>
          </c:layout>
          <c:showLegendKey val="0"/>
          <c:showVal val="1"/>
          <c:showCatName val="0"/>
          <c:showSerName val="0"/>
          <c:showPercent val="0"/>
          <c:showBubbleSize val="0"/>
          <c:extLst>
            <c:ext xmlns:c15="http://schemas.microsoft.com/office/drawing/2012/chart" uri="{CE6537A1-D6FC-4f65-9D91-7224C49458BB}"/>
          </c:extLst>
        </c:dLbl>
      </c:pivotFmt>
      <c:pivotFmt>
        <c:idx val="11"/>
        <c:dLbl>
          <c:idx val="0"/>
          <c:layout>
            <c:manualLayout>
              <c:x val="-6.1111111111111165E-2"/>
              <c:y val="4.1666666666666664E-2"/>
            </c:manualLayout>
          </c:layout>
          <c:showLegendKey val="0"/>
          <c:showVal val="1"/>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dLbl>
          <c:idx val="0"/>
          <c:layout>
            <c:manualLayout>
              <c:x val="8.3333333333332309E-3"/>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3"/>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layout>
            <c:manualLayout>
              <c:x val="-4.7222222222222221E-2"/>
              <c:y val="6.018518518518518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3"/>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layout>
            <c:manualLayout>
              <c:x val="-6.1111111111111165E-2"/>
              <c:y val="4.166666666666666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dLbl>
          <c:idx val="0"/>
          <c:layout>
            <c:manualLayout>
              <c:x val="8.3333333333332309E-3"/>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3"/>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layout>
            <c:manualLayout>
              <c:x val="-4.7222222222222221E-2"/>
              <c:y val="6.018518518518518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3"/>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layout>
            <c:manualLayout>
              <c:x val="-6.1111111111111165E-2"/>
              <c:y val="4.166666666666666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dLbl>
          <c:idx val="0"/>
          <c:layout>
            <c:manualLayout>
              <c:x val="8.3333333333332309E-3"/>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gs>
              <a:gs pos="90000">
                <a:schemeClr val="accent1">
                  <a:shade val="100000"/>
                  <a:satMod val="105000"/>
                </a:schemeClr>
              </a:gs>
              <a:gs pos="100000">
                <a:schemeClr val="accent1">
                  <a:shade val="80000"/>
                  <a:satMod val="120000"/>
                </a:schemeClr>
              </a:gs>
            </a:gsLst>
            <a:path path="circle">
              <a:fillToRect l="100000" t="100000" r="100000" b="100000"/>
            </a:path>
          </a:gradFill>
          <a:ln w="31750" cap="rnd">
            <a:solidFill>
              <a:schemeClr val="accent1"/>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gs>
              <a:gs pos="90000">
                <a:schemeClr val="accent1">
                  <a:shade val="100000"/>
                  <a:satMod val="105000"/>
                </a:schemeClr>
              </a:gs>
              <a:gs pos="100000">
                <a:schemeClr val="accent1">
                  <a:shade val="80000"/>
                  <a:satMod val="120000"/>
                </a:schemeClr>
              </a:gs>
            </a:gsLst>
            <a:path path="circle">
              <a:fillToRect l="100000" t="100000" r="100000" b="100000"/>
            </a:path>
          </a:gradFill>
          <a:ln w="31750" cap="rnd">
            <a:solidFill>
              <a:schemeClr val="accent3"/>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layout>
            <c:manualLayout>
              <c:x val="-4.7222222222222221E-2"/>
              <c:y val="6.018518518518518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gs>
              <a:gs pos="90000">
                <a:schemeClr val="accent1">
                  <a:shade val="100000"/>
                  <a:satMod val="105000"/>
                </a:schemeClr>
              </a:gs>
              <a:gs pos="100000">
                <a:schemeClr val="accent1">
                  <a:shade val="80000"/>
                  <a:satMod val="120000"/>
                </a:schemeClr>
              </a:gs>
            </a:gsLst>
            <a:path path="circle">
              <a:fillToRect l="100000" t="100000" r="100000" b="100000"/>
            </a:path>
          </a:gradFill>
          <a:ln w="31750" cap="rnd">
            <a:solidFill>
              <a:schemeClr val="accent3"/>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
          <c:idx val="0"/>
          <c:layout>
            <c:manualLayout>
              <c:x val="-6.1111111111111165E-2"/>
              <c:y val="4.166666666666666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Subjective_Q7!$M$5</c:f>
              <c:strCache>
                <c:ptCount val="1"/>
                <c:pt idx="0">
                  <c:v>Sum of  total_orders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Subjective_Q7!$L$6:$L$8</c:f>
              <c:strCache>
                <c:ptCount val="2"/>
                <c:pt idx="0">
                  <c:v>Active customer</c:v>
                </c:pt>
                <c:pt idx="1">
                  <c:v>churned customer</c:v>
                </c:pt>
              </c:strCache>
            </c:strRef>
          </c:cat>
          <c:val>
            <c:numRef>
              <c:f>Subjective_Q7!$M$6:$M$8</c:f>
              <c:numCache>
                <c:formatCode>General</c:formatCode>
                <c:ptCount val="2"/>
                <c:pt idx="0">
                  <c:v>456</c:v>
                </c:pt>
                <c:pt idx="1">
                  <c:v>158</c:v>
                </c:pt>
              </c:numCache>
            </c:numRef>
          </c:val>
          <c:extLst>
            <c:ext xmlns:c16="http://schemas.microsoft.com/office/drawing/2014/chart" uri="{C3380CC4-5D6E-409C-BE32-E72D297353CC}">
              <c16:uniqueId val="{00000000-285E-4B62-836B-F7381BD1AEF8}"/>
            </c:ext>
          </c:extLst>
        </c:ser>
        <c:ser>
          <c:idx val="1"/>
          <c:order val="1"/>
          <c:tx>
            <c:strRef>
              <c:f>Subjective_Q7!$N$5</c:f>
              <c:strCache>
                <c:ptCount val="1"/>
                <c:pt idx="0">
                  <c:v>Sum of  total_spent</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dLbl>
              <c:idx val="1"/>
              <c:layout>
                <c:manualLayout>
                  <c:x val="8.3333333333332309E-3"/>
                  <c:y val="-9.25925925925925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5E-4B62-836B-F7381BD1AEF8}"/>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Subjective_Q7!$L$6:$L$8</c:f>
              <c:strCache>
                <c:ptCount val="2"/>
                <c:pt idx="0">
                  <c:v>Active customer</c:v>
                </c:pt>
                <c:pt idx="1">
                  <c:v>churned customer</c:v>
                </c:pt>
              </c:strCache>
            </c:strRef>
          </c:cat>
          <c:val>
            <c:numRef>
              <c:f>Subjective_Q7!$N$6:$N$8</c:f>
              <c:numCache>
                <c:formatCode>General</c:formatCode>
                <c:ptCount val="2"/>
                <c:pt idx="0">
                  <c:v>3525.389999999999</c:v>
                </c:pt>
                <c:pt idx="1">
                  <c:v>1184.04</c:v>
                </c:pt>
              </c:numCache>
            </c:numRef>
          </c:val>
          <c:extLst>
            <c:ext xmlns:c16="http://schemas.microsoft.com/office/drawing/2014/chart" uri="{C3380CC4-5D6E-409C-BE32-E72D297353CC}">
              <c16:uniqueId val="{00000002-285E-4B62-836B-F7381BD1AEF8}"/>
            </c:ext>
          </c:extLst>
        </c:ser>
        <c:dLbls>
          <c:showLegendKey val="0"/>
          <c:showVal val="1"/>
          <c:showCatName val="0"/>
          <c:showSerName val="0"/>
          <c:showPercent val="0"/>
          <c:showBubbleSize val="0"/>
        </c:dLbls>
        <c:gapWidth val="219"/>
        <c:axId val="1872632992"/>
        <c:axId val="1872620032"/>
      </c:barChart>
      <c:lineChart>
        <c:grouping val="standard"/>
        <c:varyColors val="0"/>
        <c:ser>
          <c:idx val="2"/>
          <c:order val="2"/>
          <c:tx>
            <c:strRef>
              <c:f>Subjective_Q7!$O$5</c:f>
              <c:strCache>
                <c:ptCount val="1"/>
                <c:pt idx="0">
                  <c:v>Count of customer_id</c:v>
                </c:pt>
              </c:strCache>
            </c:strRef>
          </c:tx>
          <c:spPr>
            <a:ln w="31750" cap="rnd">
              <a:solidFill>
                <a:schemeClr val="accent3"/>
              </a:solidFill>
              <a:round/>
            </a:ln>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12700">
                <a:solidFill>
                  <a:schemeClr val="lt2"/>
                </a:solidFill>
                <a:round/>
              </a:ln>
              <a:effectLst/>
            </c:spPr>
          </c:marker>
          <c:dLbls>
            <c:dLbl>
              <c:idx val="0"/>
              <c:layout>
                <c:manualLayout>
                  <c:x val="-4.7222222222222221E-2"/>
                  <c:y val="6.01851851851851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5E-4B62-836B-F7381BD1AEF8}"/>
                </c:ext>
              </c:extLst>
            </c:dLbl>
            <c:dLbl>
              <c:idx val="1"/>
              <c:layout>
                <c:manualLayout>
                  <c:x val="-6.1111111111111165E-2"/>
                  <c:y val="4.1666666666666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85E-4B62-836B-F7381BD1AEF8}"/>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Subjective_Q7!$L$6:$L$8</c:f>
              <c:strCache>
                <c:ptCount val="2"/>
                <c:pt idx="0">
                  <c:v>Active customer</c:v>
                </c:pt>
                <c:pt idx="1">
                  <c:v>churned customer</c:v>
                </c:pt>
              </c:strCache>
            </c:strRef>
          </c:cat>
          <c:val>
            <c:numRef>
              <c:f>Subjective_Q7!$O$6:$O$8</c:f>
              <c:numCache>
                <c:formatCode>General</c:formatCode>
                <c:ptCount val="2"/>
                <c:pt idx="0">
                  <c:v>43</c:v>
                </c:pt>
                <c:pt idx="1">
                  <c:v>16</c:v>
                </c:pt>
              </c:numCache>
            </c:numRef>
          </c:val>
          <c:smooth val="0"/>
          <c:extLst>
            <c:ext xmlns:c16="http://schemas.microsoft.com/office/drawing/2014/chart" uri="{C3380CC4-5D6E-409C-BE32-E72D297353CC}">
              <c16:uniqueId val="{00000005-285E-4B62-836B-F7381BD1AEF8}"/>
            </c:ext>
          </c:extLst>
        </c:ser>
        <c:dLbls>
          <c:showLegendKey val="0"/>
          <c:showVal val="1"/>
          <c:showCatName val="0"/>
          <c:showSerName val="0"/>
          <c:showPercent val="0"/>
          <c:showBubbleSize val="0"/>
        </c:dLbls>
        <c:marker val="1"/>
        <c:smooth val="0"/>
        <c:axId val="1872614272"/>
        <c:axId val="1872631072"/>
      </c:lineChart>
      <c:catAx>
        <c:axId val="187261427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crossAx val="1872631072"/>
        <c:crosses val="autoZero"/>
        <c:auto val="1"/>
        <c:lblAlgn val="ctr"/>
        <c:lblOffset val="100"/>
        <c:noMultiLvlLbl val="0"/>
      </c:catAx>
      <c:valAx>
        <c:axId val="18726310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872614272"/>
        <c:crosses val="autoZero"/>
        <c:crossBetween val="between"/>
      </c:valAx>
      <c:valAx>
        <c:axId val="187262003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872632992"/>
        <c:crosses val="max"/>
        <c:crossBetween val="between"/>
      </c:valAx>
      <c:catAx>
        <c:axId val="1872632992"/>
        <c:scaling>
          <c:orientation val="minMax"/>
        </c:scaling>
        <c:delete val="1"/>
        <c:axPos val="b"/>
        <c:numFmt formatCode="General" sourceLinked="1"/>
        <c:majorTickMark val="none"/>
        <c:minorTickMark val="none"/>
        <c:tickLblPos val="nextTo"/>
        <c:crossAx val="1872620032"/>
        <c:crosses val="autoZero"/>
        <c:auto val="1"/>
        <c:lblAlgn val="ctr"/>
        <c:lblOffset val="100"/>
        <c:noMultiLvlLbl val="0"/>
      </c:cat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7030A0"/>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300">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32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F0BF095-3324-49B4-9BCD-7CE1DEA201BC}" type="datetimeFigureOut">
              <a:rPr lang="en-IN" smtClean="0"/>
              <a:t>04-01-2026</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ACF83B6-B82E-4D48-AFFE-82CBAD23794F}"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8408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0BF095-3324-49B4-9BCD-7CE1DEA201BC}"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992569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F095-3324-49B4-9BCD-7CE1DEA201BC}"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CF83B6-B82E-4D48-AFFE-82CBAD23794F}"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8555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0BF095-3324-49B4-9BCD-7CE1DEA201BC}" type="datetimeFigureOut">
              <a:rPr lang="en-IN" smtClean="0"/>
              <a:t>04-01-2026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1695413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0BF095-3324-49B4-9BCD-7CE1DEA201BC}" type="datetimeFigureOut">
              <a:rPr lang="en-IN" smtClean="0"/>
              <a:t>04-01-2026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1930838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0BF095-3324-49B4-9BCD-7CE1DEA201BC}" type="datetimeFigureOut">
              <a:rPr lang="en-IN" smtClean="0"/>
              <a:t>04-01-2026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4174804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F095-3324-49B4-9BCD-7CE1DEA201BC}" type="datetimeFigureOut">
              <a:rPr lang="en-IN" smtClean="0"/>
              <a:t>04-01-2026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1724690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F095-3324-49B4-9BCD-7CE1DEA201BC}" type="datetimeFigureOut">
              <a:rPr lang="en-IN" smtClean="0"/>
              <a:t>04-01-2026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1964830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F095-3324-49B4-9BCD-7CE1DEA201BC}" type="datetimeFigureOut">
              <a:rPr lang="en-IN" smtClean="0"/>
              <a:t>04-01-2026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95685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0BF095-3324-49B4-9BCD-7CE1DEA201BC}"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341462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0BF095-3324-49B4-9BCD-7CE1DEA201BC}" type="datetimeFigureOut">
              <a:rPr lang="en-IN" smtClean="0"/>
              <a:t>04-01-2026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CF83B6-B82E-4D48-AFFE-82CBAD23794F}" type="slidenum">
              <a:rPr lang="en-IN" smtClean="0"/>
              <a:t>‹#›</a:t>
            </a:fld>
            <a:endParaRPr lang="en-IN"/>
          </a:p>
        </p:txBody>
      </p:sp>
    </p:spTree>
    <p:extLst>
      <p:ext uri="{BB962C8B-B14F-4D97-AF65-F5344CB8AC3E}">
        <p14:creationId xmlns:p14="http://schemas.microsoft.com/office/powerpoint/2010/main" val="2375323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1F0BF095-3324-49B4-9BCD-7CE1DEA201BC}" type="datetimeFigureOut">
              <a:rPr lang="en-IN" smtClean="0"/>
              <a:t>04-01-2026</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ACF83B6-B82E-4D48-AFFE-82CBAD23794F}" type="slidenum">
              <a:rPr lang="en-IN" smtClean="0"/>
              <a:t>‹#›</a:t>
            </a:fld>
            <a:endParaRPr lang="en-IN"/>
          </a:p>
        </p:txBody>
      </p:sp>
    </p:spTree>
    <p:extLst>
      <p:ext uri="{BB962C8B-B14F-4D97-AF65-F5344CB8AC3E}">
        <p14:creationId xmlns:p14="http://schemas.microsoft.com/office/powerpoint/2010/main" val="300215759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D3684-A527-6E35-F2C1-3A398573333B}"/>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B1E29B24-BC45-D22B-313B-643B29D2EA97}"/>
              </a:ext>
            </a:extLst>
          </p:cNvPr>
          <p:cNvSpPr>
            <a:spLocks noGrp="1"/>
          </p:cNvSpPr>
          <p:nvPr>
            <p:ph type="subTitle" idx="1"/>
          </p:nvPr>
        </p:nvSpPr>
        <p:spPr/>
        <p:txBody>
          <a:bodyPr/>
          <a:lstStyle/>
          <a:p>
            <a:endParaRPr lang="en-IN"/>
          </a:p>
        </p:txBody>
      </p:sp>
      <p:pic>
        <p:nvPicPr>
          <p:cNvPr id="7" name="Picture 6">
            <a:extLst>
              <a:ext uri="{FF2B5EF4-FFF2-40B4-BE49-F238E27FC236}">
                <a16:creationId xmlns:a16="http://schemas.microsoft.com/office/drawing/2014/main" id="{12C0D359-04C1-48FD-9FE7-AE3B1ECB9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8235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AA628-37EE-B08E-0108-1385CC4C0DEE}"/>
              </a:ext>
            </a:extLst>
          </p:cNvPr>
          <p:cNvSpPr>
            <a:spLocks noGrp="1"/>
          </p:cNvSpPr>
          <p:nvPr>
            <p:ph type="title"/>
          </p:nvPr>
        </p:nvSpPr>
        <p:spPr>
          <a:xfrm>
            <a:off x="1143000" y="352698"/>
            <a:ext cx="9875520" cy="1391194"/>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Agenda</a:t>
            </a:r>
          </a:p>
        </p:txBody>
      </p:sp>
      <p:pic>
        <p:nvPicPr>
          <p:cNvPr id="1026" name="Picture 2">
            <a:extLst>
              <a:ext uri="{FF2B5EF4-FFF2-40B4-BE49-F238E27FC236}">
                <a16:creationId xmlns:a16="http://schemas.microsoft.com/office/drawing/2014/main" id="{5DB45CB6-1551-41AD-CC2C-78560357C6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02752" y="2188029"/>
            <a:ext cx="3331641" cy="37163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3B90959-91AA-D79D-26E7-39FBB24E421C}"/>
              </a:ext>
            </a:extLst>
          </p:cNvPr>
          <p:cNvSpPr txBox="1"/>
          <p:nvPr/>
        </p:nvSpPr>
        <p:spPr>
          <a:xfrm>
            <a:off x="4842295" y="2009749"/>
            <a:ext cx="5946475" cy="3626955"/>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285750" indent="-285750">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Description</a:t>
            </a:r>
          </a:p>
          <a:p>
            <a:pPr marL="285750" indent="-285750">
              <a:lnSpc>
                <a:spcPct val="2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Objective Key Metrics and Visualizations</a:t>
            </a:r>
          </a:p>
          <a:p>
            <a:pPr marL="285750" indent="-285750">
              <a:lnSpc>
                <a:spcPct val="2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Subjective Question for Insights</a:t>
            </a:r>
          </a:p>
        </p:txBody>
      </p:sp>
    </p:spTree>
    <p:extLst>
      <p:ext uri="{BB962C8B-B14F-4D97-AF65-F5344CB8AC3E}">
        <p14:creationId xmlns:p14="http://schemas.microsoft.com/office/powerpoint/2010/main" val="711529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2ECD0913-F2D9-0BDD-3F90-50E573178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8F05C-B08F-16E2-9DD6-2E231092948C}"/>
              </a:ext>
            </a:extLst>
          </p:cNvPr>
          <p:cNvSpPr>
            <a:spLocks noGrp="1"/>
          </p:cNvSpPr>
          <p:nvPr>
            <p:ph type="title"/>
          </p:nvPr>
        </p:nvSpPr>
        <p:spPr>
          <a:xfrm>
            <a:off x="1143000" y="352698"/>
            <a:ext cx="9875520" cy="1391194"/>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5CB1C58E-0F23-8805-6BE3-10C74E4A39E5}"/>
              </a:ext>
            </a:extLst>
          </p:cNvPr>
          <p:cNvSpPr txBox="1"/>
          <p:nvPr/>
        </p:nvSpPr>
        <p:spPr>
          <a:xfrm>
            <a:off x="4859548" y="2179651"/>
            <a:ext cx="6533071" cy="2934458"/>
          </a:xfrm>
          <a:prstGeom prst="rect">
            <a:avLst/>
          </a:prstGeom>
          <a:noFill/>
        </p:spPr>
        <p:txBody>
          <a:bodyPr wrap="square" rtlCol="0">
            <a:spAutoFit/>
          </a:bodyPr>
          <a:lstStyle/>
          <a:p>
            <a:pPr algn="just">
              <a:lnSpc>
                <a:spcPct val="200000"/>
              </a:lnSpc>
            </a:pPr>
            <a:r>
              <a:rPr lang="en-US" sz="2400" dirty="0">
                <a:latin typeface="Times New Roman" panose="02020603050405020304" pitchFamily="18" charset="0"/>
                <a:cs typeface="Times New Roman" panose="02020603050405020304" pitchFamily="18" charset="0"/>
              </a:rPr>
              <a:t>You are hired as a data analyst at Chinook, and your objective is to analyze music record sales data to gain insights and make recommendations for the company's strategy in the physical music market.</a:t>
            </a:r>
          </a:p>
        </p:txBody>
      </p:sp>
      <p:pic>
        <p:nvPicPr>
          <p:cNvPr id="2052" name="Picture 4" descr="Trendy float design of problem statement icon vector">
            <a:extLst>
              <a:ext uri="{FF2B5EF4-FFF2-40B4-BE49-F238E27FC236}">
                <a16:creationId xmlns:a16="http://schemas.microsoft.com/office/drawing/2014/main" id="{37907CE1-4D9C-62FC-C6A9-E9021E51AE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317" y="2156351"/>
            <a:ext cx="333375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278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2B730F50-A93F-5B28-4A8C-B4ECB666C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B30D-BFC6-9EE1-102E-8D95D03DCAEE}"/>
              </a:ext>
            </a:extLst>
          </p:cNvPr>
          <p:cNvSpPr>
            <a:spLocks noGrp="1"/>
          </p:cNvSpPr>
          <p:nvPr>
            <p:ph type="title"/>
          </p:nvPr>
        </p:nvSpPr>
        <p:spPr>
          <a:xfrm>
            <a:off x="1143000" y="327804"/>
            <a:ext cx="9875520" cy="770626"/>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Database Schema</a:t>
            </a:r>
          </a:p>
        </p:txBody>
      </p:sp>
      <p:pic>
        <p:nvPicPr>
          <p:cNvPr id="3074" name="Picture 2">
            <a:extLst>
              <a:ext uri="{FF2B5EF4-FFF2-40B4-BE49-F238E27FC236}">
                <a16:creationId xmlns:a16="http://schemas.microsoft.com/office/drawing/2014/main" id="{45308C62-563B-73E9-C858-3C9EAAA778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9902" y="1242204"/>
            <a:ext cx="7476226" cy="5158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636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6A75C253-7891-B7E7-EBE9-37B905DA0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D93C1-E5D5-A5A8-A606-4AA854147656}"/>
              </a:ext>
            </a:extLst>
          </p:cNvPr>
          <p:cNvSpPr>
            <a:spLocks noGrp="1"/>
          </p:cNvSpPr>
          <p:nvPr>
            <p:ph type="title"/>
          </p:nvPr>
        </p:nvSpPr>
        <p:spPr>
          <a:xfrm>
            <a:off x="1143000" y="327804"/>
            <a:ext cx="9875520" cy="770626"/>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Data Description</a:t>
            </a:r>
          </a:p>
        </p:txBody>
      </p:sp>
      <p:sp>
        <p:nvSpPr>
          <p:cNvPr id="3" name="TextBox 2">
            <a:extLst>
              <a:ext uri="{FF2B5EF4-FFF2-40B4-BE49-F238E27FC236}">
                <a16:creationId xmlns:a16="http://schemas.microsoft.com/office/drawing/2014/main" id="{E4A6293B-AEB8-8CD0-B329-00761FAA24C5}"/>
              </a:ext>
            </a:extLst>
          </p:cNvPr>
          <p:cNvSpPr txBox="1"/>
          <p:nvPr/>
        </p:nvSpPr>
        <p:spPr>
          <a:xfrm>
            <a:off x="1000664" y="1098430"/>
            <a:ext cx="10322944" cy="5626156"/>
          </a:xfrm>
          <a:prstGeom prst="rect">
            <a:avLst/>
          </a:prstGeom>
          <a:noFill/>
        </p:spPr>
        <p:txBody>
          <a:bodyPr wrap="square" rtlCol="0">
            <a:spAutoFit/>
          </a:bodyPr>
          <a:lstStyle/>
          <a:p>
            <a:pPr>
              <a:buClr>
                <a:schemeClr val="dk1"/>
              </a:buClr>
              <a:buSzPct val="55000"/>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customer:</a:t>
            </a:r>
          </a:p>
          <a:p>
            <a:pPr marL="457200" indent="-294054">
              <a:spcBef>
                <a:spcPts val="0"/>
              </a:spcBef>
              <a:buClr>
                <a:schemeClr val="dk1"/>
              </a:buClr>
              <a:buSzPct val="100000"/>
              <a:buFont typeface="Wingdings 3" charset="2"/>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customer_id</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Unique identifier assigned to each customer.</a:t>
            </a:r>
          </a:p>
          <a:p>
            <a:pPr marL="457200" indent="-294054">
              <a:spcBef>
                <a:spcPts val="0"/>
              </a:spcBef>
              <a:buClr>
                <a:schemeClr val="dk1"/>
              </a:buClr>
              <a:buSzPct val="100000"/>
              <a:buFont typeface="Wingdings 3" charset="2"/>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first_name</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given name or first name of a customer.</a:t>
            </a:r>
          </a:p>
          <a:p>
            <a:pPr marL="457200" indent="-294054">
              <a:spcBef>
                <a:spcPts val="0"/>
              </a:spcBef>
              <a:buClr>
                <a:schemeClr val="dk1"/>
              </a:buClr>
              <a:buSzPct val="100000"/>
              <a:buFont typeface="Wingdings 3" charset="2"/>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last_name</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surname or family name of a customer.</a:t>
            </a:r>
          </a:p>
          <a:p>
            <a:pPr marL="457200" indent="-294054">
              <a:spcBef>
                <a:spcPts val="0"/>
              </a:spcBef>
              <a:buClr>
                <a:schemeClr val="dk1"/>
              </a:buClr>
              <a:buSzPct val="100000"/>
              <a:buFont typeface="Wingdings 3" charset="2"/>
              <a:buChar char="●"/>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company: </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name of the company associated with a customer.</a:t>
            </a:r>
          </a:p>
          <a:p>
            <a:pPr marL="457200" indent="-294054">
              <a:spcBef>
                <a:spcPts val="0"/>
              </a:spcBef>
              <a:buClr>
                <a:schemeClr val="dk1"/>
              </a:buClr>
              <a:buSzPct val="100000"/>
              <a:buFont typeface="Wingdings 3" charset="2"/>
              <a:buChar char="●"/>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address</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street address of a customer's location.</a:t>
            </a:r>
          </a:p>
          <a:p>
            <a:pPr marL="457200" indent="-294054">
              <a:spcBef>
                <a:spcPts val="0"/>
              </a:spcBef>
              <a:buClr>
                <a:schemeClr val="dk1"/>
              </a:buClr>
              <a:buSzPct val="100000"/>
              <a:buFont typeface="Wingdings 3" charset="2"/>
              <a:buChar char="●"/>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city</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city where a customer is located.</a:t>
            </a:r>
          </a:p>
          <a:p>
            <a:pPr marL="457200" indent="-294054">
              <a:spcBef>
                <a:spcPts val="0"/>
              </a:spcBef>
              <a:buClr>
                <a:schemeClr val="dk1"/>
              </a:buClr>
              <a:buSzPct val="100000"/>
              <a:buFont typeface="Wingdings 3" charset="2"/>
              <a:buChar char="●"/>
            </a:pP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state: The state or province where a customer is located.</a:t>
            </a:r>
          </a:p>
          <a:p>
            <a:pPr marL="457200" indent="-294054">
              <a:spcBef>
                <a:spcPts val="0"/>
              </a:spcBef>
              <a:buClr>
                <a:schemeClr val="dk1"/>
              </a:buClr>
              <a:buSzPct val="100000"/>
              <a:buFont typeface="Wingdings 3" charset="2"/>
              <a:buChar char="●"/>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country</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country where a customer is located.</a:t>
            </a:r>
          </a:p>
          <a:p>
            <a:pPr marL="457200" indent="-294054">
              <a:spcBef>
                <a:spcPts val="0"/>
              </a:spcBef>
              <a:buClr>
                <a:schemeClr val="dk1"/>
              </a:buClr>
              <a:buSzPct val="100000"/>
              <a:buFont typeface="Wingdings 3" charset="2"/>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postal_code</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postal or zip code of a customer's address.</a:t>
            </a:r>
          </a:p>
          <a:p>
            <a:pPr marL="457200" indent="-294054">
              <a:spcBef>
                <a:spcPts val="0"/>
              </a:spcBef>
              <a:buClr>
                <a:schemeClr val="dk1"/>
              </a:buClr>
              <a:buSzPct val="100000"/>
              <a:buFont typeface="Wingdings 3" charset="2"/>
              <a:buChar char="●"/>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phone</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phone number of a customer.</a:t>
            </a:r>
          </a:p>
          <a:p>
            <a:pPr marL="457200" indent="-294054">
              <a:spcBef>
                <a:spcPts val="0"/>
              </a:spcBef>
              <a:buClr>
                <a:schemeClr val="dk1"/>
              </a:buClr>
              <a:buSzPct val="100000"/>
              <a:buFont typeface="Wingdings 3" charset="2"/>
              <a:buChar char="●"/>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fax:</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fax number associated with a customer.</a:t>
            </a:r>
          </a:p>
          <a:p>
            <a:pPr marL="457200" indent="-294054">
              <a:spcBef>
                <a:spcPts val="0"/>
              </a:spcBef>
              <a:buClr>
                <a:schemeClr val="dk1"/>
              </a:buClr>
              <a:buSzPct val="100000"/>
              <a:buFont typeface="Wingdings 3" charset="2"/>
              <a:buChar char="●"/>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email:</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email address of a customer.</a:t>
            </a:r>
          </a:p>
          <a:p>
            <a:pPr marL="457200" indent="-294054">
              <a:spcBef>
                <a:spcPts val="0"/>
              </a:spcBef>
              <a:buClr>
                <a:schemeClr val="dk1"/>
              </a:buClr>
              <a:buSzPct val="100000"/>
              <a:buFont typeface="Wingdings 3" charset="2"/>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support_rep_id</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employee ID of the support representative assigned to a customer.</a:t>
            </a:r>
          </a:p>
          <a:p>
            <a:pPr lvl="0">
              <a:lnSpc>
                <a:spcPct val="105000"/>
              </a:lnSpc>
              <a:buClr>
                <a:schemeClr val="dk1"/>
              </a:buClr>
              <a:buSzPts val="935"/>
            </a:pPr>
            <a:endPar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lnSpc>
                <a:spcPct val="105000"/>
              </a:lnSpc>
              <a:buClr>
                <a:schemeClr val="dk1"/>
              </a:buClr>
              <a:buSzPts val="935"/>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invoice_line</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87972">
              <a:lnSpc>
                <a:spcPct val="105000"/>
              </a:lnSpc>
              <a:buClr>
                <a:schemeClr val="dk1"/>
              </a:buClr>
              <a:buSzPts val="935"/>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invoice_line_id</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line item on an invoice.</a:t>
            </a:r>
          </a:p>
          <a:p>
            <a:pPr marL="457200" lvl="0" indent="-287972">
              <a:lnSpc>
                <a:spcPct val="105000"/>
              </a:lnSpc>
              <a:buClr>
                <a:schemeClr val="dk1"/>
              </a:buClr>
              <a:buSzPts val="935"/>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invoice_id</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invoice ID to which the line item belongs.</a:t>
            </a:r>
          </a:p>
          <a:p>
            <a:pPr marL="457200" lvl="0" indent="-287972">
              <a:lnSpc>
                <a:spcPct val="105000"/>
              </a:lnSpc>
              <a:buClr>
                <a:schemeClr val="dk1"/>
              </a:buClr>
              <a:buSzPts val="935"/>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track_id</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ID of the track or product included in the line item.</a:t>
            </a:r>
          </a:p>
          <a:p>
            <a:pPr marL="457200" lvl="0" indent="-287972">
              <a:lnSpc>
                <a:spcPct val="105000"/>
              </a:lnSpc>
              <a:buClr>
                <a:schemeClr val="dk1"/>
              </a:buClr>
              <a:buSzPts val="935"/>
              <a:buChar char="●"/>
            </a:pPr>
            <a:r>
              <a:rPr lang="en-IN" sz="16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unit_price</a:t>
            </a: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price per unit for the line item.</a:t>
            </a:r>
          </a:p>
          <a:p>
            <a:pPr marL="457200" lvl="0" indent="-287972">
              <a:lnSpc>
                <a:spcPct val="105000"/>
              </a:lnSpc>
              <a:buClr>
                <a:schemeClr val="dk1"/>
              </a:buClr>
              <a:buSzPts val="935"/>
              <a:buChar char="●"/>
            </a:pPr>
            <a:r>
              <a:rPr lang="en-IN" sz="16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quantity: </a:t>
            </a:r>
            <a:r>
              <a:rPr lang="en-IN"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quantity of units for the line item.</a:t>
            </a:r>
          </a:p>
          <a:p>
            <a:endParaRPr lang="en-IN" dirty="0"/>
          </a:p>
        </p:txBody>
      </p:sp>
    </p:spTree>
    <p:extLst>
      <p:ext uri="{BB962C8B-B14F-4D97-AF65-F5344CB8AC3E}">
        <p14:creationId xmlns:p14="http://schemas.microsoft.com/office/powerpoint/2010/main" val="2892794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A2F9A36D-661B-BB61-C8EE-017127D9D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E8B50-4F34-7B1F-51C0-C1B40AA41139}"/>
              </a:ext>
            </a:extLst>
          </p:cNvPr>
          <p:cNvSpPr>
            <a:spLocks noGrp="1"/>
          </p:cNvSpPr>
          <p:nvPr>
            <p:ph type="title"/>
          </p:nvPr>
        </p:nvSpPr>
        <p:spPr>
          <a:xfrm>
            <a:off x="1143000" y="327804"/>
            <a:ext cx="9875520" cy="770626"/>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Data Description</a:t>
            </a:r>
          </a:p>
        </p:txBody>
      </p:sp>
      <p:sp>
        <p:nvSpPr>
          <p:cNvPr id="3" name="TextBox 2">
            <a:extLst>
              <a:ext uri="{FF2B5EF4-FFF2-40B4-BE49-F238E27FC236}">
                <a16:creationId xmlns:a16="http://schemas.microsoft.com/office/drawing/2014/main" id="{76FE6FED-BC04-6DAE-F2C1-98889DEB582A}"/>
              </a:ext>
            </a:extLst>
          </p:cNvPr>
          <p:cNvSpPr txBox="1"/>
          <p:nvPr/>
        </p:nvSpPr>
        <p:spPr>
          <a:xfrm>
            <a:off x="1000664" y="1098430"/>
            <a:ext cx="10322944" cy="5424562"/>
          </a:xfrm>
          <a:prstGeom prst="rect">
            <a:avLst/>
          </a:prstGeom>
          <a:noFill/>
        </p:spPr>
        <p:txBody>
          <a:bodyPr wrap="square" rtlCol="0">
            <a:spAutoFit/>
          </a:bodyPr>
          <a:lstStyle/>
          <a:p>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invoice:</a:t>
            </a:r>
          </a:p>
          <a:p>
            <a:pPr marL="457200" indent="-298450">
              <a:spcBef>
                <a:spcPts val="0"/>
              </a:spcBef>
              <a:buClr>
                <a:schemeClr val="dk1"/>
              </a:buClr>
              <a:buSzPts val="1100"/>
              <a:buFont typeface="Wingdings 3" charset="2"/>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invoice_id</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Unique identifier assigned to each invoice.</a:t>
            </a:r>
          </a:p>
          <a:p>
            <a:pPr marL="457200" indent="-298450">
              <a:spcBef>
                <a:spcPts val="0"/>
              </a:spcBef>
              <a:buClr>
                <a:schemeClr val="dk1"/>
              </a:buClr>
              <a:buSzPts val="1100"/>
              <a:buFont typeface="Wingdings 3" charset="2"/>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customer_id</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customer ID associated with the invoice.</a:t>
            </a:r>
          </a:p>
          <a:p>
            <a:pPr marL="457200" indent="-298450">
              <a:spcBef>
                <a:spcPts val="0"/>
              </a:spcBef>
              <a:buClr>
                <a:schemeClr val="dk1"/>
              </a:buClr>
              <a:buSzPts val="1100"/>
              <a:buFont typeface="Wingdings 3" charset="2"/>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invoice_date</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The date when the invoice was generated or issued.</a:t>
            </a:r>
          </a:p>
          <a:p>
            <a:pPr marL="457200" indent="-298450">
              <a:spcBef>
                <a:spcPts val="0"/>
              </a:spcBef>
              <a:buClr>
                <a:schemeClr val="dk1"/>
              </a:buClr>
              <a:buSzPts val="1100"/>
              <a:buFont typeface="Wingdings 3" charset="2"/>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billing_address</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street address used for billing purposes.</a:t>
            </a:r>
          </a:p>
          <a:p>
            <a:pPr marL="457200" indent="-298450">
              <a:spcBef>
                <a:spcPts val="0"/>
              </a:spcBef>
              <a:buClr>
                <a:schemeClr val="dk1"/>
              </a:buClr>
              <a:buSzPts val="1100"/>
              <a:buFont typeface="Wingdings 3" charset="2"/>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billing_city</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city used for billing purposes.</a:t>
            </a:r>
          </a:p>
          <a:p>
            <a:pPr marL="457200" indent="-298450">
              <a:spcBef>
                <a:spcPts val="0"/>
              </a:spcBef>
              <a:buClr>
                <a:schemeClr val="dk1"/>
              </a:buClr>
              <a:buSzPts val="1100"/>
              <a:buFont typeface="Wingdings 3" charset="2"/>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billing_state</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state or province used for billing purposes.</a:t>
            </a:r>
          </a:p>
          <a:p>
            <a:pPr marL="457200" indent="-298450">
              <a:spcBef>
                <a:spcPts val="0"/>
              </a:spcBef>
              <a:buClr>
                <a:schemeClr val="dk1"/>
              </a:buClr>
              <a:buSzPts val="1100"/>
              <a:buFont typeface="Wingdings 3" charset="2"/>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billing_country</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country used for billing purposes.</a:t>
            </a:r>
          </a:p>
          <a:p>
            <a:pPr marL="457200" indent="-298450">
              <a:spcBef>
                <a:spcPts val="0"/>
              </a:spcBef>
              <a:buClr>
                <a:schemeClr val="dk1"/>
              </a:buClr>
              <a:buSzPts val="1100"/>
              <a:buFont typeface="Wingdings 3" charset="2"/>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billing_postal_code</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postal or zip code used for billing purposes.</a:t>
            </a:r>
          </a:p>
          <a:p>
            <a:pPr marL="457200" indent="-298450">
              <a:spcBef>
                <a:spcPts val="0"/>
              </a:spcBef>
              <a:buClr>
                <a:schemeClr val="dk1"/>
              </a:buClr>
              <a:buSzPts val="1100"/>
              <a:buFont typeface="Wingdings 3" charset="2"/>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total: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total amount due on the invoice.</a:t>
            </a:r>
          </a:p>
          <a:p>
            <a:pPr marL="169228" lvl="0">
              <a:lnSpc>
                <a:spcPct val="105000"/>
              </a:lnSpc>
              <a:buClr>
                <a:schemeClr val="dk1"/>
              </a:buClr>
              <a:buSzPts val="935"/>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0000"/>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playlist</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0274">
              <a:buClr>
                <a:schemeClr val="dk1"/>
              </a:buClr>
              <a:buSzPct val="1000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playlist_id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playlist.</a:t>
            </a:r>
          </a:p>
          <a:p>
            <a:pPr marL="457200" lvl="0" indent="-290274">
              <a:buClr>
                <a:schemeClr val="dk1"/>
              </a:buClr>
              <a:buSzPct val="1000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name or title of the playlist.</a:t>
            </a:r>
          </a:p>
          <a:p>
            <a:pPr marL="169228" lvl="0">
              <a:lnSpc>
                <a:spcPct val="105000"/>
              </a:lnSpc>
              <a:buClr>
                <a:schemeClr val="dk1"/>
              </a:buClr>
              <a:buSzPts val="935"/>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a:buClr>
                <a:schemeClr val="dk1"/>
              </a:buClr>
              <a:buSzPct val="61111"/>
            </a:pP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playlist_track</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0274">
              <a:buClr>
                <a:schemeClr val="dk1"/>
              </a:buClr>
              <a:buSzPct val="1000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playlist_id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ID of the playlist to which the track belongs.</a:t>
            </a:r>
          </a:p>
          <a:p>
            <a:pPr marL="457200" lvl="0" indent="-290274">
              <a:buClr>
                <a:schemeClr val="dk1"/>
              </a:buClr>
              <a:buSzPct val="1000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track_id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ID of the track included in the playlist.</a:t>
            </a:r>
          </a:p>
          <a:p>
            <a:pPr marL="166926" lvl="0">
              <a:buClr>
                <a:schemeClr val="dk1"/>
              </a:buClr>
              <a:buSzPct val="100000"/>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ts val="1100"/>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genre</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8450">
              <a:buClr>
                <a:schemeClr val="dk1"/>
              </a:buClr>
              <a:buSzPts val="11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genre_id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genre.</a:t>
            </a:r>
          </a:p>
          <a:p>
            <a:pPr marL="457200" lvl="0" indent="-298450">
              <a:buClr>
                <a:schemeClr val="dk1"/>
              </a:buClr>
              <a:buSzPts val="11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name or description of the genre (e.g., rock, pop, classical).</a:t>
            </a:r>
          </a:p>
        </p:txBody>
      </p:sp>
    </p:spTree>
    <p:extLst>
      <p:ext uri="{BB962C8B-B14F-4D97-AF65-F5344CB8AC3E}">
        <p14:creationId xmlns:p14="http://schemas.microsoft.com/office/powerpoint/2010/main" val="2876899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00667E5D-DC9A-6683-0AC7-A3CB8A030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B65A3-C176-A371-E7BE-1269B7236896}"/>
              </a:ext>
            </a:extLst>
          </p:cNvPr>
          <p:cNvSpPr>
            <a:spLocks noGrp="1"/>
          </p:cNvSpPr>
          <p:nvPr>
            <p:ph type="title"/>
          </p:nvPr>
        </p:nvSpPr>
        <p:spPr>
          <a:xfrm>
            <a:off x="1143000" y="327804"/>
            <a:ext cx="9875520" cy="770626"/>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Data Description</a:t>
            </a:r>
          </a:p>
        </p:txBody>
      </p:sp>
      <p:sp>
        <p:nvSpPr>
          <p:cNvPr id="3" name="TextBox 2">
            <a:extLst>
              <a:ext uri="{FF2B5EF4-FFF2-40B4-BE49-F238E27FC236}">
                <a16:creationId xmlns:a16="http://schemas.microsoft.com/office/drawing/2014/main" id="{FFB41E6C-3EFF-E81E-8B30-E67818305C9C}"/>
              </a:ext>
            </a:extLst>
          </p:cNvPr>
          <p:cNvSpPr txBox="1"/>
          <p:nvPr/>
        </p:nvSpPr>
        <p:spPr>
          <a:xfrm>
            <a:off x="1000664" y="1098430"/>
            <a:ext cx="10322944" cy="5401479"/>
          </a:xfrm>
          <a:prstGeom prst="rect">
            <a:avLst/>
          </a:prstGeom>
          <a:noFill/>
        </p:spPr>
        <p:txBody>
          <a:bodyPr wrap="square" rtlCol="0">
            <a:spAutoFit/>
          </a:bodyPr>
          <a:lstStyle/>
          <a:p>
            <a:pPr lvl="0">
              <a:buClr>
                <a:schemeClr val="dk1"/>
              </a:buClr>
              <a:buSzPct val="104761"/>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track</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0274">
              <a:buClr>
                <a:schemeClr val="dk1"/>
              </a:buClr>
              <a:buSzPct val="1000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track_id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track or song.</a:t>
            </a:r>
          </a:p>
          <a:p>
            <a:pPr marL="457200" lvl="0" indent="-290274">
              <a:buClr>
                <a:schemeClr val="dk1"/>
              </a:buClr>
              <a:buSzPct val="1000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title or name of the track.</a:t>
            </a:r>
          </a:p>
          <a:p>
            <a:pPr marL="457200" lvl="0" indent="-290274">
              <a:buClr>
                <a:schemeClr val="dk1"/>
              </a:buClr>
              <a:buSzPct val="1000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album_id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ID of the album to which the track belongs.</a:t>
            </a:r>
          </a:p>
          <a:p>
            <a:pPr marL="457200" lvl="0" indent="-290274">
              <a:buClr>
                <a:schemeClr val="dk1"/>
              </a:buClr>
              <a:buSzPct val="1000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media_type_id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ID of the media type associated with the track.</a:t>
            </a:r>
          </a:p>
          <a:p>
            <a:pPr marL="457200" lvl="0" indent="-290274">
              <a:buClr>
                <a:schemeClr val="dk1"/>
              </a:buClr>
              <a:buSzPct val="1000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genre_id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ID of the genre associated with the track.</a:t>
            </a:r>
          </a:p>
          <a:p>
            <a:pPr marL="457200" lvl="0" indent="-290274">
              <a:buClr>
                <a:schemeClr val="dk1"/>
              </a:buClr>
              <a:buSzPct val="1000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composer: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name of the composer or artist who composed the track.</a:t>
            </a:r>
          </a:p>
          <a:p>
            <a:pPr marL="457200" lvl="0" indent="-290274">
              <a:buClr>
                <a:schemeClr val="dk1"/>
              </a:buClr>
              <a:buSzPct val="1000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milliseconds: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duration of the track in milliseconds.</a:t>
            </a:r>
          </a:p>
          <a:p>
            <a:pPr marL="457200" lvl="0" indent="-290274">
              <a:buClr>
                <a:schemeClr val="dk1"/>
              </a:buClr>
              <a:buSzPct val="1000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bytes: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file size of the track in bytes.</a:t>
            </a:r>
          </a:p>
          <a:p>
            <a:pPr marL="457200" lvl="0" indent="-290274">
              <a:buClr>
                <a:schemeClr val="dk1"/>
              </a:buClr>
              <a:buSzPct val="1000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unit_price</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price per unit for the track.</a:t>
            </a: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ts val="1100"/>
            </a:pPr>
            <a:endPar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ts val="1100"/>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album</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8450">
              <a:buClr>
                <a:schemeClr val="dk1"/>
              </a:buClr>
              <a:buSzPts val="11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album_id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album.</a:t>
            </a:r>
          </a:p>
          <a:p>
            <a:pPr marL="457200" lvl="0" indent="-298450">
              <a:buClr>
                <a:schemeClr val="dk1"/>
              </a:buClr>
              <a:buSzPts val="11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title: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title or name of the album.</a:t>
            </a:r>
          </a:p>
          <a:p>
            <a:pPr marL="457200" lvl="0" indent="-298450">
              <a:buClr>
                <a:schemeClr val="dk1"/>
              </a:buClr>
              <a:buSzPts val="11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artist_id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ID of the artist associated with the album.</a:t>
            </a:r>
          </a:p>
          <a:p>
            <a:pPr lvl="0">
              <a:buClr>
                <a:schemeClr val="dk1"/>
              </a:buClr>
              <a:buSzPts val="1100"/>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ts val="1100"/>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artist</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8450">
              <a:buClr>
                <a:schemeClr val="dk1"/>
              </a:buClr>
              <a:buSzPts val="11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artist_id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artist.</a:t>
            </a:r>
          </a:p>
          <a:p>
            <a:pPr marL="457200" lvl="0" indent="-298450">
              <a:buClr>
                <a:schemeClr val="dk1"/>
              </a:buClr>
              <a:buSzPts val="11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name of the artist.</a:t>
            </a:r>
          </a:p>
          <a:p>
            <a:pPr lvl="0">
              <a:buClr>
                <a:schemeClr val="dk1"/>
              </a:buClr>
              <a:buSzPts val="1100"/>
            </a:pPr>
            <a:endPar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ts val="1100"/>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media_type</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0" indent="-298450">
              <a:buClr>
                <a:schemeClr val="dk1"/>
              </a:buClr>
              <a:buSzPts val="1100"/>
              <a:buChar char="●"/>
            </a:pPr>
            <a:r>
              <a:rPr lang="en-IN" sz="1500" b="1"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rPr>
              <a:t>media_type_id</a:t>
            </a: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Unique identifier assigned to each media type.</a:t>
            </a:r>
          </a:p>
          <a:p>
            <a:pPr marL="457200" lvl="0" indent="-298450">
              <a:buClr>
                <a:schemeClr val="dk1"/>
              </a:buClr>
              <a:buSzPts val="1100"/>
              <a:buChar char="●"/>
            </a:pPr>
            <a:r>
              <a:rPr lang="en-IN" sz="15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name: </a:t>
            </a:r>
            <a:r>
              <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t>The name or description of the media type (e.g., MPEG audio file, AAC audio file).</a:t>
            </a:r>
          </a:p>
        </p:txBody>
      </p:sp>
    </p:spTree>
    <p:extLst>
      <p:ext uri="{BB962C8B-B14F-4D97-AF65-F5344CB8AC3E}">
        <p14:creationId xmlns:p14="http://schemas.microsoft.com/office/powerpoint/2010/main" val="1146087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1C0B5B32-CAA2-772B-33BE-A603985314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DB9FD-A6E7-1FB9-726E-62FE298656A1}"/>
              </a:ext>
            </a:extLst>
          </p:cNvPr>
          <p:cNvSpPr>
            <a:spLocks noGrp="1"/>
          </p:cNvSpPr>
          <p:nvPr>
            <p:ph type="title"/>
          </p:nvPr>
        </p:nvSpPr>
        <p:spPr>
          <a:xfrm>
            <a:off x="1143000" y="327804"/>
            <a:ext cx="9875520" cy="770626"/>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Data Cleaning &amp; Preparation</a:t>
            </a:r>
          </a:p>
        </p:txBody>
      </p:sp>
      <p:sp>
        <p:nvSpPr>
          <p:cNvPr id="3" name="TextBox 2">
            <a:extLst>
              <a:ext uri="{FF2B5EF4-FFF2-40B4-BE49-F238E27FC236}">
                <a16:creationId xmlns:a16="http://schemas.microsoft.com/office/drawing/2014/main" id="{9ACCC089-3A1C-17EC-DE3D-648A5682E77F}"/>
              </a:ext>
            </a:extLst>
          </p:cNvPr>
          <p:cNvSpPr txBox="1"/>
          <p:nvPr/>
        </p:nvSpPr>
        <p:spPr>
          <a:xfrm>
            <a:off x="810883" y="1098430"/>
            <a:ext cx="10512725" cy="549381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Before initiating the analysis, a preliminary data quality assessment was conducted to identify missing values, duplicate records, and potential inconsistencies. Core transactional fields such as </a:t>
            </a:r>
            <a:r>
              <a:rPr lang="en-US" sz="2400" dirty="0" err="1">
                <a:latin typeface="Times New Roman" panose="02020603050405020304" pitchFamily="18" charset="0"/>
                <a:cs typeface="Times New Roman" panose="02020603050405020304" pitchFamily="18" charset="0"/>
              </a:rPr>
              <a:t>invoice_date</a:t>
            </a:r>
            <a:r>
              <a:rPr lang="en-US" sz="2400" dirty="0">
                <a:latin typeface="Times New Roman" panose="02020603050405020304" pitchFamily="18" charset="0"/>
                <a:cs typeface="Times New Roman" panose="02020603050405020304" pitchFamily="18" charset="0"/>
              </a:rPr>
              <a:t>, total, </a:t>
            </a:r>
            <a:r>
              <a:rPr lang="en-US" sz="2400" dirty="0" err="1">
                <a:latin typeface="Times New Roman" panose="02020603050405020304" pitchFamily="18" charset="0"/>
                <a:cs typeface="Times New Roman" panose="02020603050405020304" pitchFamily="18" charset="0"/>
              </a:rPr>
              <a:t>track_id</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were found to be complete and reliable, ensuring the accuracy of sales and customer behavior analysis.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Some optional attributes in the customer table, including state, fax, phone and company, contained missing values. These fields were not critical to the scope of the analysis and were therefore retained without modification.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Duplicate checks were performed using grouping techniques. Repeated entries, such as multiple purchases of the same track within a single invoice, were expected business scenarios rather than data quality issues. Overall, the dataset was well structured and</a:t>
            </a: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1508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C2A36BD7-CB7A-EC46-3247-37FEAC58A0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80039D-E514-9AF0-4A0C-773F2B2A7D6B}"/>
              </a:ext>
            </a:extLst>
          </p:cNvPr>
          <p:cNvSpPr txBox="1"/>
          <p:nvPr/>
        </p:nvSpPr>
        <p:spPr>
          <a:xfrm>
            <a:off x="810883" y="1098430"/>
            <a:ext cx="10512725" cy="4478149"/>
          </a:xfrm>
          <a:prstGeom prst="rect">
            <a:avLst/>
          </a:prstGeom>
          <a:solidFill>
            <a:schemeClr val="accent1">
              <a:lumMod val="60000"/>
              <a:lumOff val="40000"/>
            </a:schemeClr>
          </a:solidFill>
        </p:spPr>
        <p:txBody>
          <a:bodyPr wrap="square" rtlCol="0">
            <a:spAutoFit/>
          </a:bodyPr>
          <a:lstStyle/>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B5BD85D2-26EB-13E0-71A5-0EFA8DBE944C}"/>
              </a:ext>
            </a:extLst>
          </p:cNvPr>
          <p:cNvSpPr>
            <a:spLocks noGrp="1"/>
          </p:cNvSpPr>
          <p:nvPr>
            <p:ph type="title"/>
          </p:nvPr>
        </p:nvSpPr>
        <p:spPr>
          <a:xfrm>
            <a:off x="810883" y="1414731"/>
            <a:ext cx="10512725" cy="3467819"/>
          </a:xfrm>
        </p:spPr>
        <p:txBody>
          <a:bodyPr>
            <a:normAutofit/>
          </a:bodyPr>
          <a:lstStyle/>
          <a:p>
            <a:pPr algn="ctr"/>
            <a:r>
              <a:rPr lang="en-IN" b="1" dirty="0">
                <a:solidFill>
                  <a:srgbClr val="7030A0"/>
                </a:solidFill>
                <a:latin typeface="Times New Roman" panose="02020603050405020304" pitchFamily="18" charset="0"/>
                <a:cs typeface="Times New Roman" panose="02020603050405020304" pitchFamily="18" charset="0"/>
              </a:rPr>
              <a:t>OBJECTIVE KEY METRICS AND VISUALIZATIONS</a:t>
            </a:r>
          </a:p>
        </p:txBody>
      </p:sp>
    </p:spTree>
    <p:extLst>
      <p:ext uri="{BB962C8B-B14F-4D97-AF65-F5344CB8AC3E}">
        <p14:creationId xmlns:p14="http://schemas.microsoft.com/office/powerpoint/2010/main" val="961037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AEF89A2C-9C3D-6114-1438-359265ED6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F3658-E639-560A-E918-5CD8A7722C2C}"/>
              </a:ext>
            </a:extLst>
          </p:cNvPr>
          <p:cNvSpPr>
            <a:spLocks noGrp="1"/>
          </p:cNvSpPr>
          <p:nvPr>
            <p:ph type="title"/>
          </p:nvPr>
        </p:nvSpPr>
        <p:spPr>
          <a:xfrm>
            <a:off x="1143000" y="327804"/>
            <a:ext cx="9875520" cy="770626"/>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Customer Demographic Distribution</a:t>
            </a:r>
          </a:p>
        </p:txBody>
      </p:sp>
      <p:graphicFrame>
        <p:nvGraphicFramePr>
          <p:cNvPr id="5" name="Chart 4">
            <a:extLst>
              <a:ext uri="{FF2B5EF4-FFF2-40B4-BE49-F238E27FC236}">
                <a16:creationId xmlns:a16="http://schemas.microsoft.com/office/drawing/2014/main" id="{21DC6B18-94F3-67B6-8D65-1A1715AD7E58}"/>
              </a:ext>
            </a:extLst>
          </p:cNvPr>
          <p:cNvGraphicFramePr>
            <a:graphicFrameLocks/>
          </p:cNvGraphicFramePr>
          <p:nvPr>
            <p:extLst>
              <p:ext uri="{D42A27DB-BD31-4B8C-83A1-F6EECF244321}">
                <p14:modId xmlns:p14="http://schemas.microsoft.com/office/powerpoint/2010/main" val="1294285397"/>
              </p:ext>
            </p:extLst>
          </p:nvPr>
        </p:nvGraphicFramePr>
        <p:xfrm>
          <a:off x="417783" y="1582535"/>
          <a:ext cx="5738542" cy="3870537"/>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4DCFBB02-4EB4-4C60-EFA6-D6E03BAE207D}"/>
              </a:ext>
            </a:extLst>
          </p:cNvPr>
          <p:cNvSpPr txBox="1"/>
          <p:nvPr/>
        </p:nvSpPr>
        <p:spPr>
          <a:xfrm>
            <a:off x="6381750" y="1190981"/>
            <a:ext cx="5276850" cy="4653646"/>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Graph provides us with the information about the Customer distribution across all the countries</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USA have the highest </a:t>
            </a:r>
            <a:r>
              <a:rPr lang="en-IN" sz="2000" dirty="0" err="1">
                <a:latin typeface="Times New Roman" panose="02020603050405020304" pitchFamily="18" charset="0"/>
                <a:cs typeface="Times New Roman" panose="02020603050405020304" pitchFamily="18" charset="0"/>
              </a:rPr>
              <a:t>no.of</a:t>
            </a:r>
            <a:r>
              <a:rPr lang="en-IN" sz="2000" dirty="0">
                <a:latin typeface="Times New Roman" panose="02020603050405020304" pitchFamily="18" charset="0"/>
                <a:cs typeface="Times New Roman" panose="02020603050405020304" pitchFamily="18" charset="0"/>
              </a:rPr>
              <a:t> customers with count as 13 and followed by Canada, Brazil and France.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Countries like Germany, UK, Czech Republic, Portugal and India have moderate </a:t>
            </a:r>
            <a:r>
              <a:rPr lang="en-IN" sz="2000" dirty="0" err="1">
                <a:latin typeface="Times New Roman" panose="02020603050405020304" pitchFamily="18" charset="0"/>
                <a:cs typeface="Times New Roman" panose="02020603050405020304" pitchFamily="18" charset="0"/>
              </a:rPr>
              <a:t>no.of</a:t>
            </a:r>
            <a:r>
              <a:rPr lang="en-IN" sz="2000" dirty="0">
                <a:latin typeface="Times New Roman" panose="02020603050405020304" pitchFamily="18" charset="0"/>
                <a:cs typeface="Times New Roman" panose="02020603050405020304" pitchFamily="18" charset="0"/>
              </a:rPr>
              <a:t> customers with count of 2 to 4.</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While most of the countries have only a single customer.</a:t>
            </a:r>
          </a:p>
        </p:txBody>
      </p:sp>
    </p:spTree>
    <p:extLst>
      <p:ext uri="{BB962C8B-B14F-4D97-AF65-F5344CB8AC3E}">
        <p14:creationId xmlns:p14="http://schemas.microsoft.com/office/powerpoint/2010/main" val="4281941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AB232692-A26F-D451-C25C-6BBB6275B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8C118-38B3-86C2-93E4-7EA34D4D1C9B}"/>
              </a:ext>
            </a:extLst>
          </p:cNvPr>
          <p:cNvSpPr>
            <a:spLocks noGrp="1"/>
          </p:cNvSpPr>
          <p:nvPr>
            <p:ph type="title"/>
          </p:nvPr>
        </p:nvSpPr>
        <p:spPr>
          <a:xfrm>
            <a:off x="1143000" y="327804"/>
            <a:ext cx="9875520" cy="770626"/>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Top 10 Countries in terms of Revenue</a:t>
            </a:r>
          </a:p>
        </p:txBody>
      </p:sp>
      <p:sp>
        <p:nvSpPr>
          <p:cNvPr id="6" name="TextBox 5">
            <a:extLst>
              <a:ext uri="{FF2B5EF4-FFF2-40B4-BE49-F238E27FC236}">
                <a16:creationId xmlns:a16="http://schemas.microsoft.com/office/drawing/2014/main" id="{C731FA5A-20BE-84ED-D423-C80C6FFD7E79}"/>
              </a:ext>
            </a:extLst>
          </p:cNvPr>
          <p:cNvSpPr txBox="1"/>
          <p:nvPr/>
        </p:nvSpPr>
        <p:spPr>
          <a:xfrm>
            <a:off x="6381750" y="1190981"/>
            <a:ext cx="5276850" cy="5115311"/>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Graph provides us with the information about the top 10 music sales revenue across all the countries</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USA have the highest sales revenue with 1040.5$ and followed by Canada, Brazil and France.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Countries like Germany, UK and  Czech Republic have little high sales revenue from 245$ to 335$.</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While other 3 countries have moderate sale revenue from 115$ to 185$.</a:t>
            </a:r>
          </a:p>
        </p:txBody>
      </p:sp>
      <p:graphicFrame>
        <p:nvGraphicFramePr>
          <p:cNvPr id="3" name="Chart 2">
            <a:extLst>
              <a:ext uri="{FF2B5EF4-FFF2-40B4-BE49-F238E27FC236}">
                <a16:creationId xmlns:a16="http://schemas.microsoft.com/office/drawing/2014/main" id="{1350F896-3947-F032-034A-330B1D46C04F}"/>
              </a:ext>
            </a:extLst>
          </p:cNvPr>
          <p:cNvGraphicFramePr>
            <a:graphicFrameLocks/>
          </p:cNvGraphicFramePr>
          <p:nvPr>
            <p:extLst>
              <p:ext uri="{D42A27DB-BD31-4B8C-83A1-F6EECF244321}">
                <p14:modId xmlns:p14="http://schemas.microsoft.com/office/powerpoint/2010/main" val="2949602142"/>
              </p:ext>
            </p:extLst>
          </p:nvPr>
        </p:nvGraphicFramePr>
        <p:xfrm>
          <a:off x="412750" y="1653136"/>
          <a:ext cx="5588000" cy="419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4200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1AAB9091-9718-716A-6A0C-9CE54EB8F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0C60F-6363-B2B0-C870-A7ED42B5085F}"/>
              </a:ext>
            </a:extLst>
          </p:cNvPr>
          <p:cNvSpPr>
            <a:spLocks noGrp="1"/>
          </p:cNvSpPr>
          <p:nvPr>
            <p:ph type="title"/>
          </p:nvPr>
        </p:nvSpPr>
        <p:spPr>
          <a:xfrm>
            <a:off x="1143000" y="327804"/>
            <a:ext cx="9875520" cy="770626"/>
          </a:xfrm>
        </p:spPr>
        <p:txBody>
          <a:bodyPr>
            <a:normAutofit fontScale="90000"/>
          </a:bodyPr>
          <a:lstStyle/>
          <a:p>
            <a:pPr algn="ctr"/>
            <a:r>
              <a:rPr lang="en-IN" b="1" dirty="0">
                <a:solidFill>
                  <a:srgbClr val="7030A0"/>
                </a:solidFill>
                <a:latin typeface="Times New Roman" panose="02020603050405020304" pitchFamily="18" charset="0"/>
                <a:cs typeface="Times New Roman" panose="02020603050405020304" pitchFamily="18" charset="0"/>
              </a:rPr>
              <a:t>Top 5 Genres in USA in terms of Revenue</a:t>
            </a:r>
          </a:p>
        </p:txBody>
      </p:sp>
      <p:sp>
        <p:nvSpPr>
          <p:cNvPr id="6" name="TextBox 5">
            <a:extLst>
              <a:ext uri="{FF2B5EF4-FFF2-40B4-BE49-F238E27FC236}">
                <a16:creationId xmlns:a16="http://schemas.microsoft.com/office/drawing/2014/main" id="{A3EEB6BF-38E8-599A-9C89-BFBC3F34BB73}"/>
              </a:ext>
            </a:extLst>
          </p:cNvPr>
          <p:cNvSpPr txBox="1"/>
          <p:nvPr/>
        </p:nvSpPr>
        <p:spPr>
          <a:xfrm>
            <a:off x="6387501" y="1421813"/>
            <a:ext cx="5276850" cy="4653646"/>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From the Graph we can get the insights about the Top 5 Genres in USA in terms on sales revenue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Rock genre has the highest sales revenue with 555$ which is also most popular genre in USA.</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Alternative &amp; Punk and Metal have almost same revenue by which we can say that both are equally popular in USA. </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While R&amp;B/Soul and Blues gernes have moderate sales revenue with 52$ and 36$.</a:t>
            </a:r>
          </a:p>
        </p:txBody>
      </p:sp>
      <p:graphicFrame>
        <p:nvGraphicFramePr>
          <p:cNvPr id="5" name="Chart 4">
            <a:extLst>
              <a:ext uri="{FF2B5EF4-FFF2-40B4-BE49-F238E27FC236}">
                <a16:creationId xmlns:a16="http://schemas.microsoft.com/office/drawing/2014/main" id="{C10466A2-566F-FBBE-CAC2-39C6D67ECD04}"/>
              </a:ext>
            </a:extLst>
          </p:cNvPr>
          <p:cNvGraphicFramePr>
            <a:graphicFrameLocks/>
          </p:cNvGraphicFramePr>
          <p:nvPr>
            <p:extLst>
              <p:ext uri="{D42A27DB-BD31-4B8C-83A1-F6EECF244321}">
                <p14:modId xmlns:p14="http://schemas.microsoft.com/office/powerpoint/2010/main" val="3970336914"/>
              </p:ext>
            </p:extLst>
          </p:nvPr>
        </p:nvGraphicFramePr>
        <p:xfrm>
          <a:off x="469900" y="1729336"/>
          <a:ext cx="5549900" cy="4038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28231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ED0C534-F57F-D8EC-7367-8A17E92AF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25449-DE4C-41F3-E118-92E57B7AD8CA}"/>
              </a:ext>
            </a:extLst>
          </p:cNvPr>
          <p:cNvSpPr>
            <a:spLocks noGrp="1"/>
          </p:cNvSpPr>
          <p:nvPr>
            <p:ph type="title"/>
          </p:nvPr>
        </p:nvSpPr>
        <p:spPr>
          <a:xfrm>
            <a:off x="1143000" y="327804"/>
            <a:ext cx="9875520" cy="770626"/>
          </a:xfrm>
        </p:spPr>
        <p:txBody>
          <a:bodyPr>
            <a:normAutofit fontScale="90000"/>
          </a:bodyPr>
          <a:lstStyle/>
          <a:p>
            <a:pPr algn="ctr"/>
            <a:r>
              <a:rPr lang="en-IN" b="1" dirty="0">
                <a:solidFill>
                  <a:srgbClr val="7030A0"/>
                </a:solidFill>
                <a:latin typeface="Times New Roman" panose="02020603050405020304" pitchFamily="18" charset="0"/>
                <a:cs typeface="Times New Roman" panose="02020603050405020304" pitchFamily="18" charset="0"/>
              </a:rPr>
              <a:t>Top 5 Artists in USA in terms of Revenue</a:t>
            </a:r>
          </a:p>
        </p:txBody>
      </p:sp>
      <p:sp>
        <p:nvSpPr>
          <p:cNvPr id="6" name="TextBox 5">
            <a:extLst>
              <a:ext uri="{FF2B5EF4-FFF2-40B4-BE49-F238E27FC236}">
                <a16:creationId xmlns:a16="http://schemas.microsoft.com/office/drawing/2014/main" id="{43245388-5E49-531A-2902-6B2BDC7BB11F}"/>
              </a:ext>
            </a:extLst>
          </p:cNvPr>
          <p:cNvSpPr txBox="1"/>
          <p:nvPr/>
        </p:nvSpPr>
        <p:spPr>
          <a:xfrm>
            <a:off x="6387501" y="1421813"/>
            <a:ext cx="5276850" cy="4653646"/>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From the Graph we can get the insights about the Top 5 </a:t>
            </a:r>
            <a:r>
              <a:rPr lang="en-IN" sz="2000" dirty="0" err="1">
                <a:latin typeface="Times New Roman" panose="02020603050405020304" pitchFamily="18" charset="0"/>
                <a:cs typeface="Times New Roman" panose="02020603050405020304" pitchFamily="18" charset="0"/>
              </a:rPr>
              <a:t>Artistd</a:t>
            </a:r>
            <a:r>
              <a:rPr lang="en-IN" sz="2000" dirty="0">
                <a:latin typeface="Times New Roman" panose="02020603050405020304" pitchFamily="18" charset="0"/>
                <a:cs typeface="Times New Roman" panose="02020603050405020304" pitchFamily="18" charset="0"/>
              </a:rPr>
              <a:t> in USA in terms on sales revenue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Van Halen is the top artist in USA with 525$ total revenue and 43 with total purchase.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artists Eric Clapton and Nirvana was almost same in terms of total revenue and purchases. </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While The Rolling Stones and Marvin Gaye have moderate sales of 385 to 400$ with 37 and 26 total purchases. </a:t>
            </a:r>
          </a:p>
        </p:txBody>
      </p:sp>
      <p:graphicFrame>
        <p:nvGraphicFramePr>
          <p:cNvPr id="3" name="Chart 2">
            <a:extLst>
              <a:ext uri="{FF2B5EF4-FFF2-40B4-BE49-F238E27FC236}">
                <a16:creationId xmlns:a16="http://schemas.microsoft.com/office/drawing/2014/main" id="{6126CAE7-E618-2CB6-1879-6C89B7438FBE}"/>
              </a:ext>
            </a:extLst>
          </p:cNvPr>
          <p:cNvGraphicFramePr>
            <a:graphicFrameLocks/>
          </p:cNvGraphicFramePr>
          <p:nvPr>
            <p:extLst>
              <p:ext uri="{D42A27DB-BD31-4B8C-83A1-F6EECF244321}">
                <p14:modId xmlns:p14="http://schemas.microsoft.com/office/powerpoint/2010/main" val="961871845"/>
              </p:ext>
            </p:extLst>
          </p:nvPr>
        </p:nvGraphicFramePr>
        <p:xfrm>
          <a:off x="658483" y="1719532"/>
          <a:ext cx="5529532" cy="41866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442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27EFFDAC-5438-0F7F-15FC-5BBA4BFB7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690BD-B6D3-8635-5DF6-7F301A26F9A2}"/>
              </a:ext>
            </a:extLst>
          </p:cNvPr>
          <p:cNvSpPr>
            <a:spLocks noGrp="1"/>
          </p:cNvSpPr>
          <p:nvPr>
            <p:ph type="title"/>
          </p:nvPr>
        </p:nvSpPr>
        <p:spPr>
          <a:xfrm>
            <a:off x="1143000" y="327804"/>
            <a:ext cx="9875520" cy="770626"/>
          </a:xfrm>
        </p:spPr>
        <p:txBody>
          <a:bodyPr>
            <a:normAutofit fontScale="90000"/>
          </a:bodyPr>
          <a:lstStyle/>
          <a:p>
            <a:pPr algn="ctr"/>
            <a:r>
              <a:rPr lang="en-IN" b="1" dirty="0">
                <a:solidFill>
                  <a:srgbClr val="7030A0"/>
                </a:solidFill>
                <a:latin typeface="Times New Roman" panose="02020603050405020304" pitchFamily="18" charset="0"/>
                <a:cs typeface="Times New Roman" panose="02020603050405020304" pitchFamily="18" charset="0"/>
              </a:rPr>
              <a:t>Top 5 Tracks in USA in terms of Revenue</a:t>
            </a:r>
          </a:p>
        </p:txBody>
      </p:sp>
      <p:sp>
        <p:nvSpPr>
          <p:cNvPr id="6" name="TextBox 5">
            <a:extLst>
              <a:ext uri="{FF2B5EF4-FFF2-40B4-BE49-F238E27FC236}">
                <a16:creationId xmlns:a16="http://schemas.microsoft.com/office/drawing/2014/main" id="{5AF18330-F74D-C74D-2040-C43DA91E55A7}"/>
              </a:ext>
            </a:extLst>
          </p:cNvPr>
          <p:cNvSpPr txBox="1"/>
          <p:nvPr/>
        </p:nvSpPr>
        <p:spPr>
          <a:xfrm>
            <a:off x="6387501" y="1421813"/>
            <a:ext cx="5276850" cy="4653646"/>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Graph provide us with information about Top 5 tracks in USA in terms of sales revenue.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War Pigs being the top track with 62 $ which is from Rock genre.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Scentless Apprentice have little higher sales revenue of 45$ with 2</a:t>
            </a:r>
            <a:r>
              <a:rPr lang="en-IN" sz="2000" baseline="30000" dirty="0">
                <a:latin typeface="Times New Roman" panose="02020603050405020304" pitchFamily="18" charset="0"/>
                <a:cs typeface="Times New Roman" panose="02020603050405020304" pitchFamily="18" charset="0"/>
              </a:rPr>
              <a:t>nd</a:t>
            </a:r>
            <a:r>
              <a:rPr lang="en-IN" sz="2000" dirty="0">
                <a:latin typeface="Times New Roman" panose="02020603050405020304" pitchFamily="18" charset="0"/>
                <a:cs typeface="Times New Roman" panose="02020603050405020304" pitchFamily="18" charset="0"/>
              </a:rPr>
              <a:t> top selling track in USA. </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While the other 3 tracks have almost same sales revenue with 38 and 37$ sales and holding 3</a:t>
            </a:r>
            <a:r>
              <a:rPr lang="en-IN" sz="2000" baseline="30000" dirty="0">
                <a:latin typeface="Times New Roman" panose="02020603050405020304" pitchFamily="18" charset="0"/>
                <a:cs typeface="Times New Roman" panose="02020603050405020304" pitchFamily="18" charset="0"/>
              </a:rPr>
              <a:t>rd</a:t>
            </a:r>
            <a:r>
              <a:rPr lang="en-IN" sz="2000" dirty="0">
                <a:latin typeface="Times New Roman" panose="02020603050405020304" pitchFamily="18" charset="0"/>
                <a:cs typeface="Times New Roman" panose="02020603050405020304" pitchFamily="18" charset="0"/>
              </a:rPr>
              <a:t>, 4</a:t>
            </a:r>
            <a:r>
              <a:rPr lang="en-IN" sz="2000" baseline="30000" dirty="0">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and 5</a:t>
            </a:r>
            <a:r>
              <a:rPr lang="en-IN" sz="2000" baseline="30000" dirty="0">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places in USA.</a:t>
            </a:r>
          </a:p>
        </p:txBody>
      </p:sp>
      <p:graphicFrame>
        <p:nvGraphicFramePr>
          <p:cNvPr id="4" name="Chart 3">
            <a:extLst>
              <a:ext uri="{FF2B5EF4-FFF2-40B4-BE49-F238E27FC236}">
                <a16:creationId xmlns:a16="http://schemas.microsoft.com/office/drawing/2014/main" id="{DEAD7C45-45E9-D128-7FA3-37473D1C3083}"/>
              </a:ext>
            </a:extLst>
          </p:cNvPr>
          <p:cNvGraphicFramePr>
            <a:graphicFrameLocks/>
          </p:cNvGraphicFramePr>
          <p:nvPr>
            <p:extLst>
              <p:ext uri="{D42A27DB-BD31-4B8C-83A1-F6EECF244321}">
                <p14:modId xmlns:p14="http://schemas.microsoft.com/office/powerpoint/2010/main" val="2511566300"/>
              </p:ext>
            </p:extLst>
          </p:nvPr>
        </p:nvGraphicFramePr>
        <p:xfrm>
          <a:off x="527649" y="1777041"/>
          <a:ext cx="5528094" cy="40659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22111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CF8A3327-1143-8378-8107-840D90A73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D697B-CF50-90E8-EE33-9B7F1F3F9E36}"/>
              </a:ext>
            </a:extLst>
          </p:cNvPr>
          <p:cNvSpPr>
            <a:spLocks noGrp="1"/>
          </p:cNvSpPr>
          <p:nvPr>
            <p:ph type="title"/>
          </p:nvPr>
        </p:nvSpPr>
        <p:spPr>
          <a:xfrm>
            <a:off x="1143000" y="327804"/>
            <a:ext cx="9875520" cy="770626"/>
          </a:xfrm>
        </p:spPr>
        <p:txBody>
          <a:bodyPr>
            <a:normAutofit fontScale="90000"/>
          </a:bodyPr>
          <a:lstStyle/>
          <a:p>
            <a:pPr algn="ctr"/>
            <a:r>
              <a:rPr lang="en-IN" b="1" dirty="0">
                <a:solidFill>
                  <a:srgbClr val="7030A0"/>
                </a:solidFill>
                <a:latin typeface="Times New Roman" panose="02020603050405020304" pitchFamily="18" charset="0"/>
                <a:cs typeface="Times New Roman" panose="02020603050405020304" pitchFamily="18" charset="0"/>
              </a:rPr>
              <a:t>Top 5 Tracks in USA in terms of Revenue</a:t>
            </a:r>
          </a:p>
        </p:txBody>
      </p:sp>
      <p:sp>
        <p:nvSpPr>
          <p:cNvPr id="6" name="TextBox 5">
            <a:extLst>
              <a:ext uri="{FF2B5EF4-FFF2-40B4-BE49-F238E27FC236}">
                <a16:creationId xmlns:a16="http://schemas.microsoft.com/office/drawing/2014/main" id="{E33E8390-5AAA-DE0D-0C23-612FAF99FC8B}"/>
              </a:ext>
            </a:extLst>
          </p:cNvPr>
          <p:cNvSpPr txBox="1"/>
          <p:nvPr/>
        </p:nvSpPr>
        <p:spPr>
          <a:xfrm>
            <a:off x="6095999" y="1329798"/>
            <a:ext cx="5796951" cy="5115311"/>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Graph provide us with information of the customer churn rate.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customer is considered churned if the customer hasn’t made any purchase in the last 6 months.</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There are total of 59 customers out of which 16 customers are churn which is 27% of total this is a big problem to the music store in terms of customer retention and sales. </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While 43 customers are active music store also must </a:t>
            </a:r>
            <a:r>
              <a:rPr lang="en-IN" sz="2000" dirty="0" err="1">
                <a:latin typeface="Times New Roman" panose="02020603050405020304" pitchFamily="18" charset="0"/>
                <a:cs typeface="Times New Roman" panose="02020603050405020304" pitchFamily="18" charset="0"/>
              </a:rPr>
              <a:t>focum</a:t>
            </a:r>
            <a:r>
              <a:rPr lang="en-IN" sz="2000" dirty="0">
                <a:latin typeface="Times New Roman" panose="02020603050405020304" pitchFamily="18" charset="0"/>
                <a:cs typeface="Times New Roman" panose="02020603050405020304" pitchFamily="18" charset="0"/>
              </a:rPr>
              <a:t> on the customer </a:t>
            </a:r>
            <a:r>
              <a:rPr lang="en-IN" sz="2000" dirty="0" err="1">
                <a:latin typeface="Times New Roman" panose="02020603050405020304" pitchFamily="18" charset="0"/>
                <a:cs typeface="Times New Roman" panose="02020603050405020304" pitchFamily="18" charset="0"/>
              </a:rPr>
              <a:t>favorite</a:t>
            </a:r>
            <a:r>
              <a:rPr lang="en-IN" sz="2000" dirty="0">
                <a:latin typeface="Times New Roman" panose="02020603050405020304" pitchFamily="18" charset="0"/>
                <a:cs typeface="Times New Roman" panose="02020603050405020304" pitchFamily="18" charset="0"/>
              </a:rPr>
              <a:t> genre, artist and albums to keep then engaged with the music store.</a:t>
            </a:r>
          </a:p>
        </p:txBody>
      </p:sp>
      <p:graphicFrame>
        <p:nvGraphicFramePr>
          <p:cNvPr id="3" name="Chart 2">
            <a:extLst>
              <a:ext uri="{FF2B5EF4-FFF2-40B4-BE49-F238E27FC236}">
                <a16:creationId xmlns:a16="http://schemas.microsoft.com/office/drawing/2014/main" id="{EA4E830C-7020-7218-04BB-D185D1BE6F8F}"/>
              </a:ext>
            </a:extLst>
          </p:cNvPr>
          <p:cNvGraphicFramePr>
            <a:graphicFrameLocks/>
          </p:cNvGraphicFramePr>
          <p:nvPr>
            <p:extLst>
              <p:ext uri="{D42A27DB-BD31-4B8C-83A1-F6EECF244321}">
                <p14:modId xmlns:p14="http://schemas.microsoft.com/office/powerpoint/2010/main" val="3734037008"/>
              </p:ext>
            </p:extLst>
          </p:nvPr>
        </p:nvGraphicFramePr>
        <p:xfrm>
          <a:off x="598098" y="1892061"/>
          <a:ext cx="5276850" cy="39796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56007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54344B9A-5851-C923-1C92-0F2B7FA3D9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48B65B-2204-06B0-F819-C3673D10C099}"/>
              </a:ext>
            </a:extLst>
          </p:cNvPr>
          <p:cNvSpPr txBox="1"/>
          <p:nvPr/>
        </p:nvSpPr>
        <p:spPr>
          <a:xfrm>
            <a:off x="810883" y="1098430"/>
            <a:ext cx="10512725" cy="4478149"/>
          </a:xfrm>
          <a:prstGeom prst="rect">
            <a:avLst/>
          </a:prstGeom>
          <a:solidFill>
            <a:schemeClr val="accent1">
              <a:lumMod val="60000"/>
              <a:lumOff val="40000"/>
            </a:schemeClr>
          </a:solidFill>
        </p:spPr>
        <p:txBody>
          <a:bodyPr wrap="square" rtlCol="0">
            <a:spAutoFit/>
          </a:bodyPr>
          <a:lstStyle/>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lvl="0">
              <a:buClr>
                <a:schemeClr val="dk1"/>
              </a:buClr>
              <a:buSzPct val="104761"/>
            </a:pPr>
            <a:endParaRPr lang="en-IN" sz="15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BB5754D1-83E9-BAEB-79EC-C87DFD12EC42}"/>
              </a:ext>
            </a:extLst>
          </p:cNvPr>
          <p:cNvSpPr>
            <a:spLocks noGrp="1"/>
          </p:cNvSpPr>
          <p:nvPr>
            <p:ph type="title"/>
          </p:nvPr>
        </p:nvSpPr>
        <p:spPr>
          <a:xfrm>
            <a:off x="810883" y="1593010"/>
            <a:ext cx="10512725" cy="2507411"/>
          </a:xfrm>
        </p:spPr>
        <p:txBody>
          <a:bodyPr>
            <a:normAutofit/>
          </a:bodyPr>
          <a:lstStyle/>
          <a:p>
            <a:pPr algn="ctr">
              <a:lnSpc>
                <a:spcPct val="250000"/>
              </a:lnSpc>
            </a:pPr>
            <a:r>
              <a:rPr lang="en-IN" sz="5400" dirty="0">
                <a:solidFill>
                  <a:srgbClr val="7030A0"/>
                </a:solidFill>
                <a:latin typeface="Times New Roman" panose="02020603050405020304" pitchFamily="18" charset="0"/>
                <a:cs typeface="Times New Roman" panose="02020603050405020304" pitchFamily="18" charset="0"/>
              </a:rPr>
              <a:t>Subjective Analysis for Insights</a:t>
            </a:r>
          </a:p>
        </p:txBody>
      </p:sp>
    </p:spTree>
    <p:extLst>
      <p:ext uri="{BB962C8B-B14F-4D97-AF65-F5344CB8AC3E}">
        <p14:creationId xmlns:p14="http://schemas.microsoft.com/office/powerpoint/2010/main" val="3333853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7231E22-6281-7438-58C4-B38AAF2EB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B2B35-401A-131D-7A11-03C9EFDE38B3}"/>
              </a:ext>
            </a:extLst>
          </p:cNvPr>
          <p:cNvSpPr>
            <a:spLocks noGrp="1"/>
          </p:cNvSpPr>
          <p:nvPr>
            <p:ph type="title"/>
          </p:nvPr>
        </p:nvSpPr>
        <p:spPr>
          <a:xfrm>
            <a:off x="0" y="327804"/>
            <a:ext cx="12192000" cy="770626"/>
          </a:xfrm>
        </p:spPr>
        <p:txBody>
          <a:bodyPr>
            <a:noAutofit/>
          </a:bodyPr>
          <a:lstStyle/>
          <a:p>
            <a:pPr algn="ctr"/>
            <a:r>
              <a:rPr lang="en-IN" sz="3800" b="1" dirty="0">
                <a:solidFill>
                  <a:srgbClr val="7030A0"/>
                </a:solidFill>
                <a:latin typeface="Times New Roman" panose="02020603050405020304" pitchFamily="18" charset="0"/>
                <a:cs typeface="Times New Roman" panose="02020603050405020304" pitchFamily="18" charset="0"/>
              </a:rPr>
              <a:t>Recommendation of Top 3 Albums based on Genre Sales</a:t>
            </a:r>
          </a:p>
        </p:txBody>
      </p:sp>
      <p:sp>
        <p:nvSpPr>
          <p:cNvPr id="6" name="TextBox 5">
            <a:extLst>
              <a:ext uri="{FF2B5EF4-FFF2-40B4-BE49-F238E27FC236}">
                <a16:creationId xmlns:a16="http://schemas.microsoft.com/office/drawing/2014/main" id="{13206519-3D42-8DC4-5E26-148CF0084C66}"/>
              </a:ext>
            </a:extLst>
          </p:cNvPr>
          <p:cNvSpPr txBox="1"/>
          <p:nvPr/>
        </p:nvSpPr>
        <p:spPr>
          <a:xfrm>
            <a:off x="6387501" y="1421813"/>
            <a:ext cx="5276850" cy="465960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Rock dominates the chart, appearing in 3 of the top 5 albums and contributing the highest sales/revenue, indicating strong and consistent customer demand.</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R&amp;B/Soul shows steady performance, reflecting a loyal but niche audience.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Alternative &amp; Punk demonstrates moderate engagement, appealing to specific listener segments but with lower overall impact than Rock.</a:t>
            </a:r>
            <a:endParaRPr lang="en-IN" sz="2000" dirty="0">
              <a:latin typeface="Times New Roman" panose="02020603050405020304" pitchFamily="18" charset="0"/>
              <a:cs typeface="Times New Roman" panose="02020603050405020304" pitchFamily="18" charset="0"/>
            </a:endParaRPr>
          </a:p>
        </p:txBody>
      </p:sp>
      <p:graphicFrame>
        <p:nvGraphicFramePr>
          <p:cNvPr id="3" name="Chart 2">
            <a:extLst>
              <a:ext uri="{FF2B5EF4-FFF2-40B4-BE49-F238E27FC236}">
                <a16:creationId xmlns:a16="http://schemas.microsoft.com/office/drawing/2014/main" id="{73303900-52BA-43D2-A45C-2951E31A2CDB}"/>
              </a:ext>
            </a:extLst>
          </p:cNvPr>
          <p:cNvGraphicFramePr>
            <a:graphicFrameLocks/>
          </p:cNvGraphicFramePr>
          <p:nvPr>
            <p:extLst>
              <p:ext uri="{D42A27DB-BD31-4B8C-83A1-F6EECF244321}">
                <p14:modId xmlns:p14="http://schemas.microsoft.com/office/powerpoint/2010/main" val="1802381649"/>
              </p:ext>
            </p:extLst>
          </p:nvPr>
        </p:nvGraphicFramePr>
        <p:xfrm>
          <a:off x="584368" y="1782792"/>
          <a:ext cx="5511631" cy="39969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93472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B5E092B5-CDF6-ABAE-1F94-405A3C1E3B1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7BCDD3E-C181-00BD-9612-AA5BB65511AC}"/>
              </a:ext>
            </a:extLst>
          </p:cNvPr>
          <p:cNvSpPr txBox="1"/>
          <p:nvPr/>
        </p:nvSpPr>
        <p:spPr>
          <a:xfrm>
            <a:off x="839638" y="1421813"/>
            <a:ext cx="10432211" cy="4191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Are You Experienced? (Rock)</a:t>
            </a:r>
          </a:p>
          <a:p>
            <a:pPr marL="800100"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Highest overall performance and strong repeat purchase behavior</a:t>
            </a:r>
          </a:p>
          <a:p>
            <a:pPr marL="800100"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Ideal for primary advertising investment</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From the Muddy Banks of the Wishkah (Live) (Rock)</a:t>
            </a:r>
          </a:p>
          <a:p>
            <a:pPr marL="800100"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Consistently high engagement and popularity among Rock listeners</a:t>
            </a:r>
          </a:p>
          <a:p>
            <a:pPr marL="800100"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Suitable for continued promotion and bundling strategies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Doors (Rock)</a:t>
            </a:r>
          </a:p>
          <a:p>
            <a:pPr marL="800100"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Strong brand recognition and steady sales performance</a:t>
            </a:r>
          </a:p>
          <a:p>
            <a:pPr marL="800100"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Effective for reinforcing Rock-focused marketing campaigns</a:t>
            </a:r>
          </a:p>
        </p:txBody>
      </p:sp>
      <p:sp>
        <p:nvSpPr>
          <p:cNvPr id="8" name="Title 1">
            <a:extLst>
              <a:ext uri="{FF2B5EF4-FFF2-40B4-BE49-F238E27FC236}">
                <a16:creationId xmlns:a16="http://schemas.microsoft.com/office/drawing/2014/main" id="{DCDE4F29-E182-4DD6-276A-2CE952C325D5}"/>
              </a:ext>
            </a:extLst>
          </p:cNvPr>
          <p:cNvSpPr txBox="1">
            <a:spLocks/>
          </p:cNvSpPr>
          <p:nvPr/>
        </p:nvSpPr>
        <p:spPr>
          <a:xfrm>
            <a:off x="0" y="473580"/>
            <a:ext cx="12192000" cy="7706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pPr algn="ctr"/>
            <a:r>
              <a:rPr lang="en-IN" sz="3800" b="1" dirty="0">
                <a:solidFill>
                  <a:srgbClr val="7030A0"/>
                </a:solidFill>
                <a:latin typeface="Times New Roman" panose="02020603050405020304" pitchFamily="18" charset="0"/>
                <a:cs typeface="Times New Roman" panose="02020603050405020304" pitchFamily="18" charset="0"/>
              </a:rPr>
              <a:t>Recommendation of Top 3 Albums based on Genre Sales</a:t>
            </a:r>
          </a:p>
        </p:txBody>
      </p:sp>
    </p:spTree>
    <p:extLst>
      <p:ext uri="{BB962C8B-B14F-4D97-AF65-F5344CB8AC3E}">
        <p14:creationId xmlns:p14="http://schemas.microsoft.com/office/powerpoint/2010/main" val="976090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3E0640EA-F5E7-2045-350D-4BEA01A2E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BE386-B1D5-B826-B3F3-BF2465D17FE8}"/>
              </a:ext>
            </a:extLst>
          </p:cNvPr>
          <p:cNvSpPr>
            <a:spLocks noGrp="1"/>
          </p:cNvSpPr>
          <p:nvPr>
            <p:ph type="title"/>
          </p:nvPr>
        </p:nvSpPr>
        <p:spPr>
          <a:xfrm>
            <a:off x="0" y="327804"/>
            <a:ext cx="12192000" cy="770626"/>
          </a:xfrm>
        </p:spPr>
        <p:txBody>
          <a:bodyPr>
            <a:noAutofit/>
          </a:bodyPr>
          <a:lstStyle/>
          <a:p>
            <a:pPr algn="ctr"/>
            <a:r>
              <a:rPr lang="en-IN" sz="3800" b="1" dirty="0">
                <a:solidFill>
                  <a:srgbClr val="7030A0"/>
                </a:solidFill>
                <a:latin typeface="Times New Roman" panose="02020603050405020304" pitchFamily="18" charset="0"/>
                <a:cs typeface="Times New Roman" panose="02020603050405020304" pitchFamily="18" charset="0"/>
              </a:rPr>
              <a:t>Top Selling Genres in Countries other than USA</a:t>
            </a:r>
          </a:p>
        </p:txBody>
      </p:sp>
      <p:sp>
        <p:nvSpPr>
          <p:cNvPr id="6" name="TextBox 5">
            <a:extLst>
              <a:ext uri="{FF2B5EF4-FFF2-40B4-BE49-F238E27FC236}">
                <a16:creationId xmlns:a16="http://schemas.microsoft.com/office/drawing/2014/main" id="{FA36F44B-E06B-7C91-4E18-69B21C6A8EE4}"/>
              </a:ext>
            </a:extLst>
          </p:cNvPr>
          <p:cNvSpPr txBox="1"/>
          <p:nvPr/>
        </p:nvSpPr>
        <p:spPr>
          <a:xfrm>
            <a:off x="6096000" y="1193961"/>
            <a:ext cx="5831457" cy="5115311"/>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From the charts we can observe some similarities between them, such as Rock genre being the most selling not only in USA but also in other countries as well.</a:t>
            </a:r>
          </a:p>
          <a:p>
            <a:pPr marL="285750" lvl="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Metal and Alternative &amp; Punk were in the 2</a:t>
            </a:r>
            <a:r>
              <a:rPr lang="en-IN" sz="2000" baseline="30000" dirty="0">
                <a:latin typeface="Times New Roman" panose="02020603050405020304" pitchFamily="18" charset="0"/>
                <a:cs typeface="Times New Roman" panose="02020603050405020304" pitchFamily="18" charset="0"/>
              </a:rPr>
              <a:t>nd</a:t>
            </a:r>
            <a:r>
              <a:rPr lang="en-IN" sz="2000" dirty="0">
                <a:latin typeface="Times New Roman" panose="02020603050405020304" pitchFamily="18" charset="0"/>
                <a:cs typeface="Times New Roman" panose="02020603050405020304" pitchFamily="18" charset="0"/>
              </a:rPr>
              <a:t> and 3</a:t>
            </a:r>
            <a:r>
              <a:rPr lang="en-IN" sz="2000" baseline="30000" dirty="0">
                <a:latin typeface="Times New Roman" panose="02020603050405020304" pitchFamily="18" charset="0"/>
                <a:cs typeface="Times New Roman" panose="02020603050405020304" pitchFamily="18" charset="0"/>
              </a:rPr>
              <a:t>rd</a:t>
            </a:r>
            <a:r>
              <a:rPr lang="en-IN" sz="2000" dirty="0">
                <a:latin typeface="Times New Roman" panose="02020603050405020304" pitchFamily="18" charset="0"/>
                <a:cs typeface="Times New Roman" panose="02020603050405020304" pitchFamily="18" charset="0"/>
              </a:rPr>
              <a:t> place in other countries but where as in USA the positions got swapped that is Alternative &amp; Punk was at 2</a:t>
            </a:r>
            <a:r>
              <a:rPr lang="en-IN" sz="2000" baseline="30000" dirty="0">
                <a:latin typeface="Times New Roman" panose="02020603050405020304" pitchFamily="18" charset="0"/>
                <a:cs typeface="Times New Roman" panose="02020603050405020304" pitchFamily="18" charset="0"/>
              </a:rPr>
              <a:t>nd</a:t>
            </a:r>
            <a:r>
              <a:rPr lang="en-IN" sz="2000" dirty="0">
                <a:latin typeface="Times New Roman" panose="02020603050405020304" pitchFamily="18" charset="0"/>
                <a:cs typeface="Times New Roman" panose="02020603050405020304" pitchFamily="18" charset="0"/>
              </a:rPr>
              <a:t> and Metal was at 3</a:t>
            </a:r>
            <a:r>
              <a:rPr lang="en-IN" sz="2000" baseline="30000" dirty="0">
                <a:latin typeface="Times New Roman" panose="02020603050405020304" pitchFamily="18" charset="0"/>
                <a:cs typeface="Times New Roman" panose="02020603050405020304" pitchFamily="18" charset="0"/>
              </a:rPr>
              <a:t>rd</a:t>
            </a:r>
            <a:r>
              <a:rPr lang="en-IN" sz="2000" dirty="0">
                <a:latin typeface="Times New Roman" panose="02020603050405020304" pitchFamily="18" charset="0"/>
                <a:cs typeface="Times New Roman" panose="02020603050405020304" pitchFamily="18" charset="0"/>
              </a:rPr>
              <a:t> place.</a:t>
            </a:r>
          </a:p>
          <a:p>
            <a:pPr marL="285750" lvl="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When it comes to 4</a:t>
            </a:r>
            <a:r>
              <a:rPr lang="en-IN" sz="2000" baseline="30000" dirty="0">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and 5</a:t>
            </a:r>
            <a:r>
              <a:rPr lang="en-IN" sz="2000" baseline="30000" dirty="0">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place it belongs to Latin and Jazz genres in other countries, In USA 4</a:t>
            </a:r>
            <a:r>
              <a:rPr lang="en-IN" sz="2000" baseline="30000" dirty="0">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and 5</a:t>
            </a:r>
            <a:r>
              <a:rPr lang="en-IN" sz="2000" baseline="30000" dirty="0">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position was taken by R&amp;B/Soul and Blues.</a:t>
            </a:r>
          </a:p>
        </p:txBody>
      </p:sp>
      <p:pic>
        <p:nvPicPr>
          <p:cNvPr id="4" name="Picture 3">
            <a:extLst>
              <a:ext uri="{FF2B5EF4-FFF2-40B4-BE49-F238E27FC236}">
                <a16:creationId xmlns:a16="http://schemas.microsoft.com/office/drawing/2014/main" id="{D484263B-A278-9B34-099D-7FB05C0FA8F5}"/>
              </a:ext>
            </a:extLst>
          </p:cNvPr>
          <p:cNvPicPr>
            <a:picLocks noChangeAspect="1"/>
          </p:cNvPicPr>
          <p:nvPr/>
        </p:nvPicPr>
        <p:blipFill>
          <a:blip r:embed="rId2"/>
          <a:stretch>
            <a:fillRect/>
          </a:stretch>
        </p:blipFill>
        <p:spPr>
          <a:xfrm>
            <a:off x="589110" y="1180945"/>
            <a:ext cx="5276849" cy="2570672"/>
          </a:xfrm>
          <a:prstGeom prst="rect">
            <a:avLst/>
          </a:prstGeom>
        </p:spPr>
      </p:pic>
      <p:pic>
        <p:nvPicPr>
          <p:cNvPr id="5" name="Picture 4">
            <a:extLst>
              <a:ext uri="{FF2B5EF4-FFF2-40B4-BE49-F238E27FC236}">
                <a16:creationId xmlns:a16="http://schemas.microsoft.com/office/drawing/2014/main" id="{7A493B6E-1065-47B0-1BEC-CB210172D0CF}"/>
              </a:ext>
            </a:extLst>
          </p:cNvPr>
          <p:cNvPicPr>
            <a:picLocks noChangeAspect="1"/>
          </p:cNvPicPr>
          <p:nvPr/>
        </p:nvPicPr>
        <p:blipFill>
          <a:blip r:embed="rId3"/>
          <a:stretch>
            <a:fillRect/>
          </a:stretch>
        </p:blipFill>
        <p:spPr>
          <a:xfrm>
            <a:off x="589111" y="3914279"/>
            <a:ext cx="5276849" cy="2570672"/>
          </a:xfrm>
          <a:prstGeom prst="rect">
            <a:avLst/>
          </a:prstGeom>
        </p:spPr>
      </p:pic>
    </p:spTree>
    <p:extLst>
      <p:ext uri="{BB962C8B-B14F-4D97-AF65-F5344CB8AC3E}">
        <p14:creationId xmlns:p14="http://schemas.microsoft.com/office/powerpoint/2010/main" val="690894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76DD9DD6-7770-2E62-198A-36A0B0E48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FD05E-0CF9-392A-448B-5A2A1CD1C419}"/>
              </a:ext>
            </a:extLst>
          </p:cNvPr>
          <p:cNvSpPr>
            <a:spLocks noGrp="1"/>
          </p:cNvSpPr>
          <p:nvPr>
            <p:ph type="title"/>
          </p:nvPr>
        </p:nvSpPr>
        <p:spPr>
          <a:xfrm>
            <a:off x="0" y="327804"/>
            <a:ext cx="12192000" cy="770626"/>
          </a:xfrm>
        </p:spPr>
        <p:txBody>
          <a:bodyPr>
            <a:noAutofit/>
          </a:bodyPr>
          <a:lstStyle/>
          <a:p>
            <a:pPr algn="ctr"/>
            <a:r>
              <a:rPr lang="en-IN" b="1" dirty="0">
                <a:solidFill>
                  <a:srgbClr val="7030A0"/>
                </a:solidFill>
                <a:latin typeface="Times New Roman" panose="02020603050405020304" pitchFamily="18" charset="0"/>
                <a:cs typeface="Times New Roman" panose="02020603050405020304" pitchFamily="18" charset="0"/>
              </a:rPr>
              <a:t>Customer Purchasing Behaviour Analysis</a:t>
            </a:r>
            <a:endParaRPr lang="en-IN" sz="3800" b="1" dirty="0">
              <a:solidFill>
                <a:srgbClr val="7030A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B7A1409-B051-58CE-E44A-9B321E22271E}"/>
              </a:ext>
            </a:extLst>
          </p:cNvPr>
          <p:cNvSpPr txBox="1"/>
          <p:nvPr/>
        </p:nvSpPr>
        <p:spPr>
          <a:xfrm>
            <a:off x="5814852" y="1098430"/>
            <a:ext cx="6022028" cy="5576976"/>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 have broke the data for Long-team as 3/4</a:t>
            </a:r>
            <a:r>
              <a:rPr lang="en-IN" sz="2000" baseline="30000" dirty="0">
                <a:latin typeface="Times New Roman" panose="02020603050405020304" pitchFamily="18" charset="0"/>
                <a:cs typeface="Times New Roman" panose="02020603050405020304" pitchFamily="18" charset="0"/>
              </a:rPr>
              <a:t>th </a:t>
            </a:r>
            <a:r>
              <a:rPr lang="en-IN" sz="2000" dirty="0">
                <a:latin typeface="Times New Roman" panose="02020603050405020304" pitchFamily="18" charset="0"/>
                <a:cs typeface="Times New Roman" panose="02020603050405020304" pitchFamily="18" charset="0"/>
              </a:rPr>
              <a:t>and for New as 1/4</a:t>
            </a:r>
            <a:r>
              <a:rPr lang="en-IN" sz="2000" baseline="30000" dirty="0">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the data and we can see same patterns were followed by </a:t>
            </a:r>
            <a:r>
              <a:rPr lang="en-IN" sz="2000" dirty="0" err="1">
                <a:latin typeface="Times New Roman" panose="02020603050405020304" pitchFamily="18" charset="0"/>
                <a:cs typeface="Times New Roman" panose="02020603050405020304" pitchFamily="18" charset="0"/>
              </a:rPr>
              <a:t>avg_purchase_frequency</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avg_basket_size</a:t>
            </a:r>
            <a:r>
              <a:rPr lang="en-IN" sz="2000" dirty="0">
                <a:latin typeface="Times New Roman" panose="02020603050405020304" pitchFamily="18" charset="0"/>
                <a:cs typeface="Times New Roman" panose="02020603050405020304" pitchFamily="18" charset="0"/>
              </a:rPr>
              <a:t> and </a:t>
            </a:r>
            <a:r>
              <a:rPr lang="en-IN" sz="2000" dirty="0" err="1">
                <a:latin typeface="Times New Roman" panose="02020603050405020304" pitchFamily="18" charset="0"/>
                <a:cs typeface="Times New Roman" panose="02020603050405020304" pitchFamily="18" charset="0"/>
              </a:rPr>
              <a:t>avg_total_amount</a:t>
            </a:r>
            <a:r>
              <a:rPr lang="en-IN" sz="2000" dirty="0">
                <a:latin typeface="Times New Roman" panose="02020603050405020304" pitchFamily="18" charset="0"/>
                <a:cs typeface="Times New Roman" panose="02020603050405020304" pitchFamily="18" charset="0"/>
              </a:rPr>
              <a:t> for long team customers as well as new customers.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 can see that the 3 behaviours are following same pattern I can say that Long-term customer retention and loyalty towards Chinook Music Store is high.</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average </a:t>
            </a:r>
            <a:r>
              <a:rPr lang="en-IN" sz="2000" dirty="0" err="1">
                <a:latin typeface="Times New Roman" panose="02020603050405020304" pitchFamily="18" charset="0"/>
                <a:cs typeface="Times New Roman" panose="02020603050405020304" pitchFamily="18" charset="0"/>
              </a:rPr>
              <a:t>no.of</a:t>
            </a:r>
            <a:r>
              <a:rPr lang="en-IN" sz="2000" dirty="0">
                <a:latin typeface="Times New Roman" panose="02020603050405020304" pitchFamily="18" charset="0"/>
                <a:cs typeface="Times New Roman" panose="02020603050405020304" pitchFamily="18" charset="0"/>
              </a:rPr>
              <a:t> purchases by the customers in every year being the same says that the Chinook Music Store was able to satisfy the customer music needs to gain their loyalty.</a:t>
            </a:r>
          </a:p>
        </p:txBody>
      </p:sp>
      <p:graphicFrame>
        <p:nvGraphicFramePr>
          <p:cNvPr id="3" name="Chart 2">
            <a:extLst>
              <a:ext uri="{FF2B5EF4-FFF2-40B4-BE49-F238E27FC236}">
                <a16:creationId xmlns:a16="http://schemas.microsoft.com/office/drawing/2014/main" id="{6DB435C5-7ADB-7632-E6B1-69EB95958BF8}"/>
              </a:ext>
            </a:extLst>
          </p:cNvPr>
          <p:cNvGraphicFramePr>
            <a:graphicFrameLocks/>
          </p:cNvGraphicFramePr>
          <p:nvPr/>
        </p:nvGraphicFramePr>
        <p:xfrm>
          <a:off x="584368" y="1782792"/>
          <a:ext cx="5511631" cy="39969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55FEA510-46B0-454E-A9E2-3B7D813FC2E3}"/>
              </a:ext>
            </a:extLst>
          </p:cNvPr>
          <p:cNvGraphicFramePr>
            <a:graphicFrameLocks/>
          </p:cNvGraphicFramePr>
          <p:nvPr>
            <p:extLst>
              <p:ext uri="{D42A27DB-BD31-4B8C-83A1-F6EECF244321}">
                <p14:modId xmlns:p14="http://schemas.microsoft.com/office/powerpoint/2010/main" val="843296634"/>
              </p:ext>
            </p:extLst>
          </p:nvPr>
        </p:nvGraphicFramePr>
        <p:xfrm>
          <a:off x="355120" y="1782792"/>
          <a:ext cx="5344064" cy="38991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74432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23AD6261-AC0E-854D-6B31-0F14A8427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E016D-4A10-4296-5C0C-6EE752D4DCEE}"/>
              </a:ext>
            </a:extLst>
          </p:cNvPr>
          <p:cNvSpPr>
            <a:spLocks noGrp="1"/>
          </p:cNvSpPr>
          <p:nvPr>
            <p:ph type="title"/>
          </p:nvPr>
        </p:nvSpPr>
        <p:spPr>
          <a:xfrm>
            <a:off x="0" y="327804"/>
            <a:ext cx="12192000" cy="770626"/>
          </a:xfrm>
        </p:spPr>
        <p:txBody>
          <a:bodyPr>
            <a:noAutofit/>
          </a:bodyPr>
          <a:lstStyle/>
          <a:p>
            <a:pPr algn="ctr"/>
            <a:r>
              <a:rPr lang="en-IN" b="1" dirty="0">
                <a:solidFill>
                  <a:srgbClr val="7030A0"/>
                </a:solidFill>
                <a:latin typeface="Times New Roman" panose="02020603050405020304" pitchFamily="18" charset="0"/>
                <a:cs typeface="Times New Roman" panose="02020603050405020304" pitchFamily="18" charset="0"/>
              </a:rPr>
              <a:t>Customer Regional Market Analysis</a:t>
            </a:r>
            <a:endParaRPr lang="en-IN" sz="3800" b="1" dirty="0">
              <a:solidFill>
                <a:srgbClr val="7030A0"/>
              </a:solidFill>
              <a:latin typeface="Times New Roman" panose="02020603050405020304" pitchFamily="18" charset="0"/>
              <a:cs typeface="Times New Roman" panose="02020603050405020304" pitchFamily="18" charset="0"/>
            </a:endParaRPr>
          </a:p>
        </p:txBody>
      </p:sp>
      <p:graphicFrame>
        <p:nvGraphicFramePr>
          <p:cNvPr id="5" name="Chart 4">
            <a:extLst>
              <a:ext uri="{FF2B5EF4-FFF2-40B4-BE49-F238E27FC236}">
                <a16:creationId xmlns:a16="http://schemas.microsoft.com/office/drawing/2014/main" id="{FF8895C4-6637-CE44-6DAA-0D7C14BFFC06}"/>
              </a:ext>
            </a:extLst>
          </p:cNvPr>
          <p:cNvGraphicFramePr>
            <a:graphicFrameLocks/>
          </p:cNvGraphicFramePr>
          <p:nvPr>
            <p:extLst>
              <p:ext uri="{D42A27DB-BD31-4B8C-83A1-F6EECF244321}">
                <p14:modId xmlns:p14="http://schemas.microsoft.com/office/powerpoint/2010/main" val="631919189"/>
              </p:ext>
            </p:extLst>
          </p:nvPr>
        </p:nvGraphicFramePr>
        <p:xfrm>
          <a:off x="626853" y="1078303"/>
          <a:ext cx="10754264" cy="2840554"/>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ABE51065-FA79-F6E8-936F-074923A14F60}"/>
              </a:ext>
            </a:extLst>
          </p:cNvPr>
          <p:cNvSpPr txBox="1"/>
          <p:nvPr/>
        </p:nvSpPr>
        <p:spPr>
          <a:xfrm>
            <a:off x="626853" y="4095206"/>
            <a:ext cx="10816210" cy="2535566"/>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Many countries like Australia, Finland, Hungary, Italy, Poland have a single customer with multiple invoices and with 0 churn percentage.</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Countries with less churn percentage such as USA with 23% have 13 customers and Canada with 12.5% with 8 customers, this shows that this countries have very good retention rate with more customers.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Countries with little higher churn percentage like India with 50%, Germany with 60% and United Kingdom with 33% have more then 3 customers, they should focus on customer retention rather then attracting new customers.</a:t>
            </a:r>
          </a:p>
        </p:txBody>
      </p:sp>
    </p:spTree>
    <p:extLst>
      <p:ext uri="{BB962C8B-B14F-4D97-AF65-F5344CB8AC3E}">
        <p14:creationId xmlns:p14="http://schemas.microsoft.com/office/powerpoint/2010/main" val="4248003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649EAA30-32CE-62F6-9750-3865A6FD4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74455-3BA2-697B-C961-69121C5406DA}"/>
              </a:ext>
            </a:extLst>
          </p:cNvPr>
          <p:cNvSpPr>
            <a:spLocks noGrp="1"/>
          </p:cNvSpPr>
          <p:nvPr>
            <p:ph type="title"/>
          </p:nvPr>
        </p:nvSpPr>
        <p:spPr>
          <a:xfrm>
            <a:off x="0" y="327804"/>
            <a:ext cx="12192000" cy="770626"/>
          </a:xfrm>
        </p:spPr>
        <p:txBody>
          <a:bodyPr>
            <a:noAutofit/>
          </a:bodyPr>
          <a:lstStyle/>
          <a:p>
            <a:pPr algn="ctr"/>
            <a:r>
              <a:rPr lang="en-IN" b="1" dirty="0">
                <a:solidFill>
                  <a:srgbClr val="7030A0"/>
                </a:solidFill>
                <a:latin typeface="Times New Roman" panose="02020603050405020304" pitchFamily="18" charset="0"/>
                <a:cs typeface="Times New Roman" panose="02020603050405020304" pitchFamily="18" charset="0"/>
              </a:rPr>
              <a:t>Customer Regional Market Analysis</a:t>
            </a:r>
            <a:endParaRPr lang="en-IN" sz="3800" b="1" dirty="0">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8E59647-3972-7D19-6509-EC2AC2A6CDA7}"/>
              </a:ext>
            </a:extLst>
          </p:cNvPr>
          <p:cNvSpPr txBox="1"/>
          <p:nvPr/>
        </p:nvSpPr>
        <p:spPr>
          <a:xfrm>
            <a:off x="737887" y="1098430"/>
            <a:ext cx="10816210" cy="4832092"/>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Argentina, Austria, Belgium, Chile etc have 100% churn percentage with only single customer with very less order repetition.</a:t>
            </a:r>
          </a:p>
          <a:p>
            <a:pPr lvl="0" algn="ctr">
              <a:lnSpc>
                <a:spcPct val="250000"/>
              </a:lnSpc>
            </a:pPr>
            <a:r>
              <a:rPr lang="en-IN" sz="2000" b="1" dirty="0">
                <a:solidFill>
                  <a:schemeClr val="accent1"/>
                </a:solidFill>
                <a:latin typeface="Times New Roman" panose="02020603050405020304" pitchFamily="18" charset="0"/>
                <a:cs typeface="Times New Roman" panose="02020603050405020304" pitchFamily="18" charset="0"/>
              </a:rPr>
              <a:t>Recommendations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Chinook Music store must focus on customer retention in countries with moderate churn rate and few customers like Germany, United Kingdom and India.</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Countries with 0% churn rate with single customer must focus on attracting new customers and with very high product publicity and recommendations on basis of customer likings.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Countries with high and very high churn rate such as Brazil, Argentina, Austria much clearly focus on customer retention also on product recommendation and new gaining new customers.</a:t>
            </a:r>
          </a:p>
          <a:p>
            <a:pPr lvl="0"/>
            <a:endParaRPr lang="en-IN" dirty="0"/>
          </a:p>
        </p:txBody>
      </p:sp>
    </p:spTree>
    <p:extLst>
      <p:ext uri="{BB962C8B-B14F-4D97-AF65-F5344CB8AC3E}">
        <p14:creationId xmlns:p14="http://schemas.microsoft.com/office/powerpoint/2010/main" val="4111542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824FDDE8-1FA9-CB6A-5EF4-587F4AB4A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C0F49-AA3A-EE23-E793-90809BF652C9}"/>
              </a:ext>
            </a:extLst>
          </p:cNvPr>
          <p:cNvSpPr>
            <a:spLocks noGrp="1"/>
          </p:cNvSpPr>
          <p:nvPr>
            <p:ph type="title"/>
          </p:nvPr>
        </p:nvSpPr>
        <p:spPr>
          <a:xfrm>
            <a:off x="0" y="327804"/>
            <a:ext cx="12192000" cy="770626"/>
          </a:xfrm>
        </p:spPr>
        <p:txBody>
          <a:bodyPr>
            <a:noAutofit/>
          </a:bodyPr>
          <a:lstStyle/>
          <a:p>
            <a:pPr algn="ctr"/>
            <a:r>
              <a:rPr lang="en-IN" b="1" dirty="0">
                <a:solidFill>
                  <a:srgbClr val="7030A0"/>
                </a:solidFill>
                <a:latin typeface="Times New Roman" panose="02020603050405020304" pitchFamily="18" charset="0"/>
                <a:cs typeface="Times New Roman" panose="02020603050405020304" pitchFamily="18" charset="0"/>
              </a:rPr>
              <a:t>Customer Purchasing Behaviour Analysis</a:t>
            </a:r>
            <a:endParaRPr lang="en-IN" sz="3800" b="1" dirty="0">
              <a:solidFill>
                <a:srgbClr val="7030A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C7267A1-DF18-39FD-D629-705DC3DD8296}"/>
              </a:ext>
            </a:extLst>
          </p:cNvPr>
          <p:cNvSpPr txBox="1"/>
          <p:nvPr/>
        </p:nvSpPr>
        <p:spPr>
          <a:xfrm>
            <a:off x="5821383" y="992757"/>
            <a:ext cx="5919948" cy="5576976"/>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Low-risk customers outperform high-risk customers across all key metrics, including total spending, number of orders, and average order value.</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Low-risk customers have a higher average total spend (~82.7) and more frequent purchases (~10.9 orders), indicating strong engagement and loyalty.</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High-risk customers show lower spending (~72.9) and fewer orders (~9.1), suggesting reduced engagement and a higher likelihood of churn.</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average order value is also slightly higher for low-risk customers, reinforcing their higher lifetime value.</a:t>
            </a:r>
            <a:endParaRPr lang="en-IN" sz="2000" dirty="0">
              <a:latin typeface="Times New Roman" panose="02020603050405020304" pitchFamily="18" charset="0"/>
              <a:cs typeface="Times New Roman" panose="02020603050405020304" pitchFamily="18" charset="0"/>
            </a:endParaRPr>
          </a:p>
        </p:txBody>
      </p:sp>
      <p:graphicFrame>
        <p:nvGraphicFramePr>
          <p:cNvPr id="3" name="Chart 2">
            <a:extLst>
              <a:ext uri="{FF2B5EF4-FFF2-40B4-BE49-F238E27FC236}">
                <a16:creationId xmlns:a16="http://schemas.microsoft.com/office/drawing/2014/main" id="{219BFCDF-94AB-CC47-9504-45A551D4DA11}"/>
              </a:ext>
            </a:extLst>
          </p:cNvPr>
          <p:cNvGraphicFramePr>
            <a:graphicFrameLocks/>
          </p:cNvGraphicFramePr>
          <p:nvPr/>
        </p:nvGraphicFramePr>
        <p:xfrm>
          <a:off x="584368" y="1782792"/>
          <a:ext cx="5511631" cy="39969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72703B1C-567C-4CEB-AE53-E4E7EB676408}"/>
              </a:ext>
            </a:extLst>
          </p:cNvPr>
          <p:cNvGraphicFramePr>
            <a:graphicFrameLocks/>
          </p:cNvGraphicFramePr>
          <p:nvPr>
            <p:extLst>
              <p:ext uri="{D42A27DB-BD31-4B8C-83A1-F6EECF244321}">
                <p14:modId xmlns:p14="http://schemas.microsoft.com/office/powerpoint/2010/main" val="1626503845"/>
              </p:ext>
            </p:extLst>
          </p:nvPr>
        </p:nvGraphicFramePr>
        <p:xfrm>
          <a:off x="450669" y="1476103"/>
          <a:ext cx="5179422" cy="45328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78333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3F7026F6-8219-ED85-7FD2-444738BDF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C2991-F033-F7FF-DA84-92F796D2293D}"/>
              </a:ext>
            </a:extLst>
          </p:cNvPr>
          <p:cNvSpPr>
            <a:spLocks noGrp="1"/>
          </p:cNvSpPr>
          <p:nvPr>
            <p:ph type="title"/>
          </p:nvPr>
        </p:nvSpPr>
        <p:spPr>
          <a:xfrm>
            <a:off x="0" y="327804"/>
            <a:ext cx="12192000" cy="770626"/>
          </a:xfrm>
        </p:spPr>
        <p:txBody>
          <a:bodyPr>
            <a:noAutofit/>
          </a:bodyPr>
          <a:lstStyle/>
          <a:p>
            <a:pPr algn="ctr"/>
            <a:r>
              <a:rPr lang="en-IN" b="1" dirty="0">
                <a:solidFill>
                  <a:srgbClr val="7030A0"/>
                </a:solidFill>
                <a:latin typeface="Times New Roman" panose="02020603050405020304" pitchFamily="18" charset="0"/>
                <a:cs typeface="Times New Roman" panose="02020603050405020304" pitchFamily="18" charset="0"/>
              </a:rPr>
              <a:t>Customer Lifetime Value Model</a:t>
            </a:r>
            <a:endParaRPr lang="en-IN" sz="3800" b="1" dirty="0">
              <a:solidFill>
                <a:srgbClr val="7030A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D5F9CE9-49B4-0520-716B-9A304950FABC}"/>
              </a:ext>
            </a:extLst>
          </p:cNvPr>
          <p:cNvSpPr txBox="1"/>
          <p:nvPr/>
        </p:nvSpPr>
        <p:spPr>
          <a:xfrm>
            <a:off x="5821383" y="992757"/>
            <a:ext cx="5919948" cy="5576976"/>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Active customers contribute significantly higher lifetime value compared to churned customers across all key metrics.</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Active customers show much higher total spending (~3525) and greater order volume (~456 orders), indicating strong engagement and long-term loyalty.</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Churned customers have substantially lower spending (~1184) and fewer total orders (~158), reflecting declining engagement before churn.</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customer count is higher among active customers, highlighting the importance of retention in sustaining overall revenue.</a:t>
            </a:r>
            <a:endParaRPr lang="en-IN" sz="2000" dirty="0">
              <a:latin typeface="Times New Roman" panose="02020603050405020304" pitchFamily="18" charset="0"/>
              <a:cs typeface="Times New Roman" panose="02020603050405020304" pitchFamily="18" charset="0"/>
            </a:endParaRPr>
          </a:p>
        </p:txBody>
      </p:sp>
      <p:graphicFrame>
        <p:nvGraphicFramePr>
          <p:cNvPr id="3" name="Chart 2">
            <a:extLst>
              <a:ext uri="{FF2B5EF4-FFF2-40B4-BE49-F238E27FC236}">
                <a16:creationId xmlns:a16="http://schemas.microsoft.com/office/drawing/2014/main" id="{5F21BD37-4008-8D08-D69A-D8F2598EA23B}"/>
              </a:ext>
            </a:extLst>
          </p:cNvPr>
          <p:cNvGraphicFramePr>
            <a:graphicFrameLocks/>
          </p:cNvGraphicFramePr>
          <p:nvPr/>
        </p:nvGraphicFramePr>
        <p:xfrm>
          <a:off x="584368" y="1782792"/>
          <a:ext cx="5511631" cy="39969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58B68C30-B894-4040-AB33-25EF4DD3EB02}"/>
              </a:ext>
            </a:extLst>
          </p:cNvPr>
          <p:cNvGraphicFramePr>
            <a:graphicFrameLocks/>
          </p:cNvGraphicFramePr>
          <p:nvPr>
            <p:extLst>
              <p:ext uri="{D42A27DB-BD31-4B8C-83A1-F6EECF244321}">
                <p14:modId xmlns:p14="http://schemas.microsoft.com/office/powerpoint/2010/main" val="543415939"/>
              </p:ext>
            </p:extLst>
          </p:nvPr>
        </p:nvGraphicFramePr>
        <p:xfrm>
          <a:off x="522514" y="1391195"/>
          <a:ext cx="5081452" cy="47287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90793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A4749C1A-1606-0EED-B3C5-91807D4E9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2E507-E3AC-F9C9-4B4D-422E95E43130}"/>
              </a:ext>
            </a:extLst>
          </p:cNvPr>
          <p:cNvSpPr>
            <a:spLocks noGrp="1"/>
          </p:cNvSpPr>
          <p:nvPr>
            <p:ph type="title"/>
          </p:nvPr>
        </p:nvSpPr>
        <p:spPr>
          <a:xfrm>
            <a:off x="0" y="327804"/>
            <a:ext cx="12192000" cy="770626"/>
          </a:xfrm>
        </p:spPr>
        <p:txBody>
          <a:bodyPr>
            <a:noAutofit/>
          </a:bodyPr>
          <a:lstStyle/>
          <a:p>
            <a:pPr algn="ctr"/>
            <a:r>
              <a:rPr lang="en-IN" sz="3800" b="1" dirty="0">
                <a:solidFill>
                  <a:srgbClr val="7030A0"/>
                </a:solidFill>
                <a:latin typeface="Times New Roman" panose="02020603050405020304" pitchFamily="18" charset="0"/>
                <a:cs typeface="Times New Roman" panose="02020603050405020304" pitchFamily="18" charset="0"/>
              </a:rPr>
              <a:t>Recommendations</a:t>
            </a:r>
          </a:p>
        </p:txBody>
      </p:sp>
      <p:sp>
        <p:nvSpPr>
          <p:cNvPr id="6" name="TextBox 5">
            <a:extLst>
              <a:ext uri="{FF2B5EF4-FFF2-40B4-BE49-F238E27FC236}">
                <a16:creationId xmlns:a16="http://schemas.microsoft.com/office/drawing/2014/main" id="{40E1F13E-8770-3E0C-908E-8DD1F100E8D5}"/>
              </a:ext>
            </a:extLst>
          </p:cNvPr>
          <p:cNvSpPr txBox="1"/>
          <p:nvPr/>
        </p:nvSpPr>
        <p:spPr>
          <a:xfrm>
            <a:off x="476793" y="992757"/>
            <a:ext cx="11264537" cy="6038641"/>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Strengthen loyalty programs for high </a:t>
            </a:r>
            <a:r>
              <a:rPr lang="en-IN" sz="2000" dirty="0">
                <a:latin typeface="Times New Roman" panose="02020603050405020304" pitchFamily="18" charset="0"/>
                <a:cs typeface="Times New Roman" panose="02020603050405020304" pitchFamily="18" charset="0"/>
              </a:rPr>
              <a:t>Customer Lifetime Value</a:t>
            </a:r>
            <a:r>
              <a:rPr lang="en-US" sz="2000" dirty="0">
                <a:latin typeface="Times New Roman" panose="02020603050405020304" pitchFamily="18" charset="0"/>
                <a:cs typeface="Times New Roman" panose="02020603050405020304" pitchFamily="18" charset="0"/>
              </a:rPr>
              <a:t> customers to maximize lifetime value and sustain engagement.</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Re-engage high value customers (e.g., customers like Manoj Pareek) through personalized email offers, curated playlists, or exclusive discounts.</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Bundle high performing genres such as Rock, Alternative, and Metal into subscriptions or promotional packages to increase average revenue per user.</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Prioritize top performing countries like the Czech Republic and Ireland with localized campaigns and tailored promotions.</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Launch win back campaigns for mid-value churned customers using limited-time offers, personalized content, or genre based recommendations.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 early churn detection by monitoring declining purchase frequency and engagement to proactively retain customers.</a:t>
            </a:r>
          </a:p>
          <a:p>
            <a:pPr marL="285750" lvl="0" indent="-285750" algn="just">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4767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DDCBDC7-7296-82B1-660A-E0DA70F3F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43258-00B8-54A7-48E5-1338E760F817}"/>
              </a:ext>
            </a:extLst>
          </p:cNvPr>
          <p:cNvSpPr>
            <a:spLocks noGrp="1"/>
          </p:cNvSpPr>
          <p:nvPr>
            <p:ph type="title"/>
          </p:nvPr>
        </p:nvSpPr>
        <p:spPr>
          <a:xfrm>
            <a:off x="0" y="327804"/>
            <a:ext cx="12192000" cy="770626"/>
          </a:xfrm>
        </p:spPr>
        <p:txBody>
          <a:bodyPr>
            <a:noAutofit/>
          </a:bodyPr>
          <a:lstStyle/>
          <a:p>
            <a:pPr algn="ctr"/>
            <a:r>
              <a:rPr lang="en-IN" sz="3800" b="1" dirty="0">
                <a:solidFill>
                  <a:srgbClr val="7030A0"/>
                </a:solidFill>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CBCFB974-4DD3-46FB-B54C-B1DAC16C3D23}"/>
              </a:ext>
            </a:extLst>
          </p:cNvPr>
          <p:cNvSpPr txBox="1"/>
          <p:nvPr/>
        </p:nvSpPr>
        <p:spPr>
          <a:xfrm>
            <a:off x="463731" y="1182169"/>
            <a:ext cx="11264537" cy="4661276"/>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analysis reveals clear patterns in customer purchasing behavior, regional trends, and genre preferences, enabling more targeted business decisions.</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Rock and Alternative genres dominate sales across multiple regions, particularly in high performing countries, highlighting strong cross selling potential.</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a:t>
            </a:r>
            <a:r>
              <a:rPr lang="en-IN" sz="2000" dirty="0">
                <a:latin typeface="Times New Roman" panose="02020603050405020304" pitchFamily="18" charset="0"/>
                <a:cs typeface="Times New Roman" panose="02020603050405020304" pitchFamily="18" charset="0"/>
              </a:rPr>
              <a:t>Customer Lifetime Value</a:t>
            </a:r>
            <a:r>
              <a:rPr lang="en-US" sz="2000" dirty="0">
                <a:latin typeface="Times New Roman" panose="02020603050405020304" pitchFamily="18" charset="0"/>
                <a:cs typeface="Times New Roman" panose="02020603050405020304" pitchFamily="18" charset="0"/>
              </a:rPr>
              <a:t> customers demonstrate consistent engagement and higher purchase frequency, making them critical to long-term revenue stability.</a:t>
            </a:r>
          </a:p>
          <a:p>
            <a:pPr marL="285750" lvl="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noticeable share of valuable customers has churned, indicating gaps in retention and re-engagement strategies.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Differences in purchasing behavior across regions and customer segments emphasize the need for segmented and region specific strategies rather than uniform marketing approaches.</a:t>
            </a:r>
          </a:p>
        </p:txBody>
      </p:sp>
    </p:spTree>
    <p:extLst>
      <p:ext uri="{BB962C8B-B14F-4D97-AF65-F5344CB8AC3E}">
        <p14:creationId xmlns:p14="http://schemas.microsoft.com/office/powerpoint/2010/main" val="1916003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72A381B1-92F3-C9E0-DB3D-3EB43B25333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E92DE18-2DFE-9425-1600-4A32CF515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130" y="241662"/>
            <a:ext cx="11697789" cy="6394087"/>
          </a:xfrm>
          <a:prstGeom prst="rect">
            <a:avLst/>
          </a:prstGeom>
        </p:spPr>
      </p:pic>
    </p:spTree>
    <p:extLst>
      <p:ext uri="{BB962C8B-B14F-4D97-AF65-F5344CB8AC3E}">
        <p14:creationId xmlns:p14="http://schemas.microsoft.com/office/powerpoint/2010/main" val="1097087738"/>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Basis</Template>
  <TotalTime>1426</TotalTime>
  <Words>2503</Words>
  <Application>Microsoft Office PowerPoint</Application>
  <PresentationFormat>Widescreen</PresentationFormat>
  <Paragraphs>263</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Corbel</vt:lpstr>
      <vt:lpstr>Times New Roman</vt:lpstr>
      <vt:lpstr>Wingdings</vt:lpstr>
      <vt:lpstr>Wingdings 3</vt:lpstr>
      <vt:lpstr>Basis</vt:lpstr>
      <vt:lpstr>PowerPoint Presentation</vt:lpstr>
      <vt:lpstr>Agenda</vt:lpstr>
      <vt:lpstr>Problem Statement</vt:lpstr>
      <vt:lpstr>Database Schema</vt:lpstr>
      <vt:lpstr>Data Description</vt:lpstr>
      <vt:lpstr>Data Description</vt:lpstr>
      <vt:lpstr>Data Description</vt:lpstr>
      <vt:lpstr>Data Cleaning &amp; Preparation</vt:lpstr>
      <vt:lpstr>OBJECTIVE KEY METRICS AND VISUALIZATIONS</vt:lpstr>
      <vt:lpstr>Customer Demographic Distribution</vt:lpstr>
      <vt:lpstr>Top 10 Countries in terms of Revenue</vt:lpstr>
      <vt:lpstr>Top 5 Genres in USA in terms of Revenue</vt:lpstr>
      <vt:lpstr>Top 5 Artists in USA in terms of Revenue</vt:lpstr>
      <vt:lpstr>Top 5 Tracks in USA in terms of Revenue</vt:lpstr>
      <vt:lpstr>Top 5 Tracks in USA in terms of Revenue</vt:lpstr>
      <vt:lpstr>Subjective Analysis for Insights</vt:lpstr>
      <vt:lpstr>Recommendation of Top 3 Albums based on Genre Sales</vt:lpstr>
      <vt:lpstr>PowerPoint Presentation</vt:lpstr>
      <vt:lpstr>Top Selling Genres in Countries other than USA</vt:lpstr>
      <vt:lpstr>Customer Purchasing Behaviour Analysis</vt:lpstr>
      <vt:lpstr>Customer Regional Market Analysis</vt:lpstr>
      <vt:lpstr>Customer Regional Market Analysis</vt:lpstr>
      <vt:lpstr>Customer Purchasing Behaviour Analysis</vt:lpstr>
      <vt:lpstr>Customer Lifetime Value Model</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YOGENDAR BHUPATHI</dc:creator>
  <cp:lastModifiedBy>YOGENDAR BHUPATHI</cp:lastModifiedBy>
  <cp:revision>1</cp:revision>
  <dcterms:created xsi:type="dcterms:W3CDTF">2026-01-04T14:28:57Z</dcterms:created>
  <dcterms:modified xsi:type="dcterms:W3CDTF">2026-01-05T14:15:11Z</dcterms:modified>
</cp:coreProperties>
</file>